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2"/>
  </p:notesMasterIdLst>
  <p:sldIdLst>
    <p:sldId id="28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0" r:id="rId11"/>
    <p:sldId id="287" r:id="rId12"/>
    <p:sldId id="265" r:id="rId13"/>
    <p:sldId id="266" r:id="rId14"/>
    <p:sldId id="267" r:id="rId15"/>
    <p:sldId id="279" r:id="rId16"/>
    <p:sldId id="268" r:id="rId17"/>
    <p:sldId id="269" r:id="rId18"/>
    <p:sldId id="270" r:id="rId19"/>
    <p:sldId id="271" r:id="rId20"/>
    <p:sldId id="283" r:id="rId21"/>
    <p:sldId id="285" r:id="rId22"/>
    <p:sldId id="272" r:id="rId23"/>
    <p:sldId id="286" r:id="rId24"/>
    <p:sldId id="273" r:id="rId25"/>
    <p:sldId id="274" r:id="rId26"/>
    <p:sldId id="282" r:id="rId27"/>
    <p:sldId id="275" r:id="rId28"/>
    <p:sldId id="276" r:id="rId29"/>
    <p:sldId id="277" r:id="rId30"/>
    <p:sldId id="278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27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8191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rial" panose="020B0604020202020204" pitchFamily="34" charset="0"/>
              </a:rPr>
              <a:t>2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rial" panose="020B0604020202020204" pitchFamily="34" charset="0"/>
              </a:rPr>
              <a:t>3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rial" panose="020B0604020202020204" pitchFamily="34" charset="0"/>
              </a:rPr>
              <a:t>4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rial" panose="020B0604020202020204" pitchFamily="34" charset="0"/>
              </a:rPr>
              <a:t>5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rial" panose="020B0604020202020204" pitchFamily="34" charset="0"/>
              </a:rPr>
              <a:t>6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rial" panose="020B0604020202020204" pitchFamily="34" charset="0"/>
              </a:rPr>
              <a:t>7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rial" panose="020B0604020202020204" pitchFamily="34" charset="0"/>
              </a:rPr>
              <a:t>8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rial" panose="020B0604020202020204" pitchFamily="34" charset="0"/>
              </a:rPr>
              <a:t>9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rial" panose="020B0604020202020204" pitchFamily="34" charset="0"/>
              </a:rPr>
              <a:t>12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rial" panose="020B0604020202020204" pitchFamily="34" charset="0"/>
              </a:rPr>
              <a:t>13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rial" panose="020B0604020202020204" pitchFamily="34" charset="0"/>
              </a:rPr>
              <a:t>14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rial" panose="020B0604020202020204" pitchFamily="34" charset="0"/>
              </a:rPr>
              <a:t>15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12528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rial" panose="020B0604020202020204" pitchFamily="34" charset="0"/>
              </a:rPr>
              <a:t>16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rial" panose="020B0604020202020204" pitchFamily="34" charset="0"/>
              </a:rPr>
              <a:t>17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rial" panose="020B0604020202020204" pitchFamily="34" charset="0"/>
              </a:rPr>
              <a:t>18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rial" panose="020B0604020202020204" pitchFamily="34" charset="0"/>
              </a:rPr>
              <a:t>19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rial" panose="020B0604020202020204" pitchFamily="34" charset="0"/>
              </a:rPr>
              <a:t>22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rial" panose="020B0604020202020204" pitchFamily="34" charset="0"/>
              </a:rPr>
              <a:t>23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84197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rial" panose="020B0604020202020204" pitchFamily="34" charset="0"/>
              </a:rPr>
              <a:t>24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rial" panose="020B0604020202020204" pitchFamily="34" charset="0"/>
              </a:rPr>
              <a:t>25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rial" panose="020B0604020202020204" pitchFamily="34" charset="0"/>
              </a:rPr>
              <a:t>27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rial" panose="020B0604020202020204" pitchFamily="34" charset="0"/>
              </a:rPr>
              <a:t>28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rial" panose="020B0604020202020204" pitchFamily="34" charset="0"/>
              </a:rPr>
              <a:t>29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rial" panose="020B0604020202020204" pitchFamily="34" charset="0"/>
              </a:rPr>
              <a:t>30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6.png"/><Relationship Id="rId3" Type="http://schemas.openxmlformats.org/officeDocument/2006/relationships/image" Target="../media/image3.png"/><Relationship Id="rId7" Type="http://schemas.openxmlformats.org/officeDocument/2006/relationships/image" Target="../media/image22.pn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5.png"/><Relationship Id="rId5" Type="http://schemas.openxmlformats.org/officeDocument/2006/relationships/image" Target="../media/image4.png"/><Relationship Id="rId10" Type="http://schemas.openxmlformats.org/officeDocument/2006/relationships/image" Target="../media/image12.png"/><Relationship Id="rId4" Type="http://schemas.openxmlformats.org/officeDocument/2006/relationships/image" Target="../media/image20.png"/><Relationship Id="rId9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29.png"/><Relationship Id="rId3" Type="http://schemas.openxmlformats.org/officeDocument/2006/relationships/image" Target="../media/image27.png"/><Relationship Id="rId7" Type="http://schemas.openxmlformats.org/officeDocument/2006/relationships/image" Target="../media/image11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0" Type="http://schemas.openxmlformats.org/officeDocument/2006/relationships/image" Target="../media/image24.png"/><Relationship Id="rId4" Type="http://schemas.openxmlformats.org/officeDocument/2006/relationships/image" Target="../media/image5.png"/><Relationship Id="rId9" Type="http://schemas.openxmlformats.org/officeDocument/2006/relationships/image" Target="../media/image28.png"/><Relationship Id="rId1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39.png"/><Relationship Id="rId4" Type="http://schemas.microsoft.com/office/2007/relationships/hdphoto" Target="../media/hdphoto1.wdp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3">
            <a:extLst>
              <a:ext uri="{FF2B5EF4-FFF2-40B4-BE49-F238E27FC236}">
                <a16:creationId xmlns:a16="http://schemas.microsoft.com/office/drawing/2014/main" id="{8ECD2489-4E86-45AD-BE7C-F09B15D50AFA}"/>
              </a:ext>
            </a:extLst>
          </p:cNvPr>
          <p:cNvSpPr/>
          <p:nvPr/>
        </p:nvSpPr>
        <p:spPr>
          <a:xfrm>
            <a:off x="3411310" y="5752308"/>
            <a:ext cx="8721046" cy="3361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2375"/>
              </a:lnSpc>
            </a:pPr>
            <a:endParaRPr lang="en-US" sz="1400" dirty="0">
              <a:solidFill>
                <a:srgbClr val="000000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9218C6D-B829-4C42-8723-3EDC956E9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9184" y="1799832"/>
            <a:ext cx="1113631" cy="1113631"/>
          </a:xfrm>
          <a:prstGeom prst="rect">
            <a:avLst/>
          </a:prstGeom>
        </p:spPr>
      </p:pic>
      <p:sp>
        <p:nvSpPr>
          <p:cNvPr id="11" name="Text 0">
            <a:extLst>
              <a:ext uri="{FF2B5EF4-FFF2-40B4-BE49-F238E27FC236}">
                <a16:creationId xmlns:a16="http://schemas.microsoft.com/office/drawing/2014/main" id="{34C33268-82DA-49A0-A828-B6A81B46AC08}"/>
              </a:ext>
            </a:extLst>
          </p:cNvPr>
          <p:cNvSpPr/>
          <p:nvPr/>
        </p:nvSpPr>
        <p:spPr>
          <a:xfrm>
            <a:off x="1" y="2985993"/>
            <a:ext cx="12192000" cy="1101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dirty="0">
                <a:solidFill>
                  <a:srgbClr val="312F2B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MID TERM DEFENSE FOR </a:t>
            </a:r>
            <a:br>
              <a:rPr lang="en-US" sz="2000" dirty="0">
                <a:solidFill>
                  <a:srgbClr val="312F2B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</a:br>
            <a:r>
              <a:rPr lang="en-US" sz="2000" dirty="0">
                <a:solidFill>
                  <a:srgbClr val="312F2B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MAJOR PROJECT ON:</a:t>
            </a:r>
          </a:p>
          <a:p>
            <a:pPr algn="ctr">
              <a:lnSpc>
                <a:spcPts val="4625"/>
              </a:lnSpc>
            </a:pPr>
            <a:r>
              <a:rPr lang="en-US" sz="2000" b="1" dirty="0">
                <a:solidFill>
                  <a:srgbClr val="312F2B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SPARK: Explainable Edge AI for Kinetic Pattern Recognition and Distress Signaling</a:t>
            </a:r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66A01B9F-EE4B-4AD0-8E62-E4F7BE99D427}"/>
              </a:ext>
            </a:extLst>
          </p:cNvPr>
          <p:cNvSpPr/>
          <p:nvPr/>
        </p:nvSpPr>
        <p:spPr>
          <a:xfrm>
            <a:off x="2955925" y="4093896"/>
            <a:ext cx="6280150" cy="16389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400" u="sng" dirty="0">
                <a:solidFill>
                  <a:srgbClr val="272525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Submitted By:</a:t>
            </a:r>
          </a:p>
          <a:p>
            <a:pPr algn="ctr"/>
            <a:endParaRPr lang="en-US" sz="1400" u="sng" dirty="0">
              <a:solidFill>
                <a:srgbClr val="000000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  <a:p>
            <a:pPr lvl="1" algn="just"/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AARADHYA DEV TAMRAKAR		KAT079BEI001</a:t>
            </a:r>
          </a:p>
          <a:p>
            <a:pPr lvl="1" algn="just"/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RUPESH KADEL			KAT079BEI034</a:t>
            </a:r>
          </a:p>
          <a:p>
            <a:pPr lvl="1" algn="just"/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SANKALPA LAMSAL			KAT079BEI039</a:t>
            </a:r>
          </a:p>
          <a:p>
            <a:pPr lvl="1" algn="just"/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SONIA THAPA				KAT079BEI043</a:t>
            </a:r>
          </a:p>
          <a:p>
            <a:pPr>
              <a:lnSpc>
                <a:spcPts val="2375"/>
              </a:lnSpc>
            </a:pPr>
            <a:endParaRPr lang="en-US" sz="1400" b="1" dirty="0">
              <a:solidFill>
                <a:srgbClr val="272525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B7F4F9BD-382E-485B-8619-955DCEC663A6}"/>
              </a:ext>
            </a:extLst>
          </p:cNvPr>
          <p:cNvSpPr/>
          <p:nvPr/>
        </p:nvSpPr>
        <p:spPr>
          <a:xfrm>
            <a:off x="5358607" y="6216155"/>
            <a:ext cx="2413227" cy="3474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2375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Date : July 13</a:t>
            </a:r>
            <a:r>
              <a:rPr lang="en-US" sz="1200" baseline="30000" dirty="0">
                <a:solidFill>
                  <a:srgbClr val="272525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th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, 2026</a:t>
            </a:r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7A2A5F1F-1B6A-4DB0-B93B-3B0D3279DA86}"/>
              </a:ext>
            </a:extLst>
          </p:cNvPr>
          <p:cNvSpPr/>
          <p:nvPr/>
        </p:nvSpPr>
        <p:spPr>
          <a:xfrm>
            <a:off x="3411311" y="5506065"/>
            <a:ext cx="5646964" cy="6375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2375"/>
              </a:lnSpc>
            </a:pPr>
            <a:r>
              <a:rPr lang="en-US" sz="1400" b="1" dirty="0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Supervisor</a:t>
            </a:r>
            <a:r>
              <a:rPr lang="en-US" sz="1400" dirty="0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: Assoc. Prof. </a:t>
            </a:r>
            <a:r>
              <a:rPr lang="en-US" sz="1400" dirty="0" err="1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Er</a:t>
            </a:r>
            <a:r>
              <a:rPr lang="en-US" sz="1400" dirty="0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. </a:t>
            </a:r>
            <a:r>
              <a:rPr lang="en-US" sz="1400" dirty="0" err="1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Dipen</a:t>
            </a:r>
            <a:r>
              <a:rPr lang="en-US" sz="1400" dirty="0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Manandhar</a:t>
            </a:r>
            <a:endParaRPr lang="en-US" sz="14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  <a:p>
            <a:pPr>
              <a:lnSpc>
                <a:spcPts val="2375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Department</a:t>
            </a: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: Electronics, Communication, and Information Engineering </a:t>
            </a:r>
            <a:endParaRPr lang="en-US" sz="1400" dirty="0">
              <a:solidFill>
                <a:srgbClr val="000000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  <a:p>
            <a:pPr>
              <a:lnSpc>
                <a:spcPts val="2375"/>
              </a:lnSpc>
            </a:pPr>
            <a:endParaRPr lang="en-US" sz="14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81AD82-8396-4C8D-94E7-5F66707891AB}"/>
              </a:ext>
            </a:extLst>
          </p:cNvPr>
          <p:cNvSpPr txBox="1"/>
          <p:nvPr/>
        </p:nvSpPr>
        <p:spPr>
          <a:xfrm>
            <a:off x="1" y="294430"/>
            <a:ext cx="12192000" cy="14927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TRIBHUVAN UNIVERSITY</a:t>
            </a:r>
          </a:p>
          <a:p>
            <a:pPr algn="ctr"/>
            <a:r>
              <a:rPr lang="en-US" sz="2800" dirty="0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INSTITUTE OF ENGINEERING</a:t>
            </a:r>
          </a:p>
          <a:p>
            <a:pPr algn="ctr"/>
            <a:r>
              <a:rPr lang="en-US" dirty="0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Kathmandu Engineering College</a:t>
            </a:r>
          </a:p>
          <a:p>
            <a:pPr algn="ctr"/>
            <a:r>
              <a:rPr lang="en-US" dirty="0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Kalimati, Kathmandu</a:t>
            </a:r>
          </a:p>
        </p:txBody>
      </p:sp>
    </p:spTree>
    <p:extLst>
      <p:ext uri="{BB962C8B-B14F-4D97-AF65-F5344CB8AC3E}">
        <p14:creationId xmlns:p14="http://schemas.microsoft.com/office/powerpoint/2010/main" val="1261837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F2A3D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PRESENTATION OUTLINE</a:t>
            </a:r>
            <a:endParaRPr lang="en-US" sz="3600" dirty="0">
              <a:latin typeface="Arial" panose="020B0604020202020204" pitchFamily="34" charset="0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764B66D-9E8B-4B1E-8CD8-BA2FCD7A9003}"/>
              </a:ext>
            </a:extLst>
          </p:cNvPr>
          <p:cNvGrpSpPr/>
          <p:nvPr/>
        </p:nvGrpSpPr>
        <p:grpSpPr>
          <a:xfrm>
            <a:off x="640232" y="1252728"/>
            <a:ext cx="10911536" cy="5102352"/>
            <a:chOff x="640080" y="1150620"/>
            <a:chExt cx="10911536" cy="5102352"/>
          </a:xfrm>
        </p:grpSpPr>
        <p:sp>
          <p:nvSpPr>
            <p:cNvPr id="3" name="Shape 1"/>
            <p:cNvSpPr/>
            <p:nvPr/>
          </p:nvSpPr>
          <p:spPr>
            <a:xfrm>
              <a:off x="640080" y="1150620"/>
              <a:ext cx="5227168" cy="713232"/>
            </a:xfrm>
            <a:prstGeom prst="roundRect">
              <a:avLst>
                <a:gd name="adj" fmla="val 7692"/>
              </a:avLst>
            </a:prstGeom>
            <a:noFill/>
            <a:ln>
              <a:solidFill>
                <a:schemeClr val="tx1"/>
              </a:solidFill>
            </a:ln>
            <a:effectLst>
              <a:outerShdw blurRad="63500" dist="19050" dir="54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4" name="Shape 2"/>
            <p:cNvSpPr/>
            <p:nvPr/>
          </p:nvSpPr>
          <p:spPr>
            <a:xfrm>
              <a:off x="804672" y="1324356"/>
              <a:ext cx="365760" cy="3657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</p:sp>
        <p:sp>
          <p:nvSpPr>
            <p:cNvPr id="5" name="Text 3"/>
            <p:cNvSpPr/>
            <p:nvPr/>
          </p:nvSpPr>
          <p:spPr>
            <a:xfrm>
              <a:off x="804672" y="1324356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01</a:t>
              </a:r>
              <a:endParaRPr lang="en-US" sz="1100" dirty="0">
                <a:latin typeface="Arial" panose="020B0604020202020204" pitchFamily="34" charset="0"/>
              </a:endParaRPr>
            </a:p>
          </p:txBody>
        </p:sp>
        <p:sp>
          <p:nvSpPr>
            <p:cNvPr id="6" name="Text 4"/>
            <p:cNvSpPr/>
            <p:nvPr/>
          </p:nvSpPr>
          <p:spPr>
            <a:xfrm>
              <a:off x="1298448" y="1150620"/>
              <a:ext cx="4404208" cy="7132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50" b="1" dirty="0">
                  <a:solidFill>
                    <a:srgbClr val="1B2B33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Motivation</a:t>
              </a:r>
              <a:endParaRPr lang="en-US" sz="1450" dirty="0">
                <a:latin typeface="Arial" panose="020B0604020202020204" pitchFamily="34" charset="0"/>
              </a:endParaRPr>
            </a:p>
          </p:txBody>
        </p:sp>
        <p:sp>
          <p:nvSpPr>
            <p:cNvPr id="7" name="Shape 5"/>
            <p:cNvSpPr/>
            <p:nvPr/>
          </p:nvSpPr>
          <p:spPr>
            <a:xfrm>
              <a:off x="640080" y="2028444"/>
              <a:ext cx="5227168" cy="713232"/>
            </a:xfrm>
            <a:prstGeom prst="roundRect">
              <a:avLst>
                <a:gd name="adj" fmla="val 7692"/>
              </a:avLst>
            </a:prstGeom>
            <a:noFill/>
            <a:ln>
              <a:solidFill>
                <a:schemeClr val="tx1"/>
              </a:solidFill>
            </a:ln>
            <a:effectLst>
              <a:outerShdw blurRad="63500" dist="19050" dir="54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8" name="Shape 6"/>
            <p:cNvSpPr/>
            <p:nvPr/>
          </p:nvSpPr>
          <p:spPr>
            <a:xfrm>
              <a:off x="804672" y="2202180"/>
              <a:ext cx="365760" cy="3657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</p:sp>
        <p:sp>
          <p:nvSpPr>
            <p:cNvPr id="9" name="Text 7"/>
            <p:cNvSpPr/>
            <p:nvPr/>
          </p:nvSpPr>
          <p:spPr>
            <a:xfrm>
              <a:off x="804672" y="220218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02</a:t>
              </a:r>
              <a:endParaRPr lang="en-US" sz="1100" dirty="0">
                <a:latin typeface="Arial" panose="020B0604020202020204" pitchFamily="34" charset="0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1298448" y="2028444"/>
              <a:ext cx="4404208" cy="7132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50" b="1" dirty="0">
                  <a:solidFill>
                    <a:srgbClr val="1B2B33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Introduction</a:t>
              </a:r>
              <a:endParaRPr lang="en-US" sz="1450" dirty="0">
                <a:latin typeface="Arial" panose="020B0604020202020204" pitchFamily="34" charset="0"/>
              </a:endParaRPr>
            </a:p>
          </p:txBody>
        </p:sp>
        <p:sp>
          <p:nvSpPr>
            <p:cNvPr id="11" name="Shape 9"/>
            <p:cNvSpPr/>
            <p:nvPr/>
          </p:nvSpPr>
          <p:spPr>
            <a:xfrm>
              <a:off x="640080" y="2906268"/>
              <a:ext cx="5227168" cy="713232"/>
            </a:xfrm>
            <a:prstGeom prst="roundRect">
              <a:avLst>
                <a:gd name="adj" fmla="val 7692"/>
              </a:avLst>
            </a:prstGeom>
            <a:noFill/>
            <a:ln>
              <a:solidFill>
                <a:schemeClr val="tx1"/>
              </a:solidFill>
            </a:ln>
            <a:effectLst>
              <a:outerShdw blurRad="63500" dist="19050" dir="54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12" name="Shape 10"/>
            <p:cNvSpPr/>
            <p:nvPr/>
          </p:nvSpPr>
          <p:spPr>
            <a:xfrm>
              <a:off x="804672" y="3080004"/>
              <a:ext cx="365760" cy="3657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</p:sp>
        <p:sp>
          <p:nvSpPr>
            <p:cNvPr id="13" name="Text 11"/>
            <p:cNvSpPr/>
            <p:nvPr/>
          </p:nvSpPr>
          <p:spPr>
            <a:xfrm>
              <a:off x="804672" y="3080004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03</a:t>
              </a:r>
              <a:endParaRPr lang="en-US" sz="1100" dirty="0">
                <a:latin typeface="Arial" panose="020B0604020202020204" pitchFamily="34" charset="0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1298448" y="2906268"/>
              <a:ext cx="4404208" cy="7132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50" b="1" dirty="0">
                  <a:solidFill>
                    <a:srgbClr val="1B2B33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Objectives</a:t>
              </a:r>
              <a:endParaRPr lang="en-US" sz="1450" dirty="0">
                <a:latin typeface="Arial" panose="020B0604020202020204" pitchFamily="34" charset="0"/>
              </a:endParaRPr>
            </a:p>
          </p:txBody>
        </p:sp>
        <p:sp>
          <p:nvSpPr>
            <p:cNvPr id="15" name="Shape 13"/>
            <p:cNvSpPr/>
            <p:nvPr/>
          </p:nvSpPr>
          <p:spPr>
            <a:xfrm>
              <a:off x="640080" y="3784092"/>
              <a:ext cx="5227168" cy="713232"/>
            </a:xfrm>
            <a:prstGeom prst="roundRect">
              <a:avLst>
                <a:gd name="adj" fmla="val 7692"/>
              </a:avLst>
            </a:prstGeom>
            <a:noFill/>
            <a:ln>
              <a:solidFill>
                <a:schemeClr val="tx1"/>
              </a:solidFill>
            </a:ln>
            <a:effectLst>
              <a:outerShdw blurRad="63500" dist="19050" dir="54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16" name="Shape 14"/>
            <p:cNvSpPr/>
            <p:nvPr/>
          </p:nvSpPr>
          <p:spPr>
            <a:xfrm>
              <a:off x="804672" y="3957828"/>
              <a:ext cx="365760" cy="365760"/>
            </a:xfrm>
            <a:prstGeom prst="ellipse">
              <a:avLst/>
            </a:prstGeom>
            <a:solidFill>
              <a:srgbClr val="0F2A3D"/>
            </a:solidFill>
            <a:ln/>
          </p:spPr>
        </p:sp>
        <p:sp>
          <p:nvSpPr>
            <p:cNvPr id="17" name="Text 15"/>
            <p:cNvSpPr/>
            <p:nvPr/>
          </p:nvSpPr>
          <p:spPr>
            <a:xfrm>
              <a:off x="804672" y="3957828"/>
              <a:ext cx="365760" cy="3657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04</a:t>
              </a:r>
              <a:endParaRPr lang="en-US" sz="1100" dirty="0">
                <a:latin typeface="Arial" panose="020B0604020202020204" pitchFamily="34" charset="0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1298448" y="3784092"/>
              <a:ext cx="4404208" cy="7132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50" b="1" dirty="0">
                  <a:solidFill>
                    <a:srgbClr val="1B2B33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Literature Review</a:t>
              </a:r>
              <a:endParaRPr lang="en-US" sz="1450" dirty="0">
                <a:latin typeface="Arial" panose="020B0604020202020204" pitchFamily="34" charset="0"/>
              </a:endParaRPr>
            </a:p>
          </p:txBody>
        </p:sp>
        <p:sp>
          <p:nvSpPr>
            <p:cNvPr id="19" name="Shape 17"/>
            <p:cNvSpPr/>
            <p:nvPr/>
          </p:nvSpPr>
          <p:spPr>
            <a:xfrm>
              <a:off x="640080" y="4661916"/>
              <a:ext cx="5227168" cy="713232"/>
            </a:xfrm>
            <a:prstGeom prst="roundRect">
              <a:avLst>
                <a:gd name="adj" fmla="val 7692"/>
              </a:avLst>
            </a:prstGeom>
            <a:noFill/>
            <a:ln>
              <a:solidFill>
                <a:schemeClr val="tx1"/>
              </a:solidFill>
            </a:ln>
            <a:effectLst>
              <a:outerShdw blurRad="63500" dist="19050" dir="54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20" name="Shape 18"/>
            <p:cNvSpPr/>
            <p:nvPr/>
          </p:nvSpPr>
          <p:spPr>
            <a:xfrm>
              <a:off x="804672" y="4835652"/>
              <a:ext cx="365760" cy="365760"/>
            </a:xfrm>
            <a:prstGeom prst="ellipse">
              <a:avLst/>
            </a:prstGeom>
            <a:solidFill>
              <a:srgbClr val="0F2A3D"/>
            </a:solidFill>
            <a:ln/>
          </p:spPr>
        </p:sp>
        <p:sp>
          <p:nvSpPr>
            <p:cNvPr id="21" name="Text 19"/>
            <p:cNvSpPr/>
            <p:nvPr/>
          </p:nvSpPr>
          <p:spPr>
            <a:xfrm>
              <a:off x="804672" y="4835652"/>
              <a:ext cx="365760" cy="3657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05</a:t>
              </a:r>
              <a:endParaRPr lang="en-US" sz="1100" dirty="0">
                <a:latin typeface="Arial" panose="020B0604020202020204" pitchFamily="34" charset="0"/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1298448" y="4661916"/>
              <a:ext cx="4404208" cy="7132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50" b="1" dirty="0">
                  <a:solidFill>
                    <a:srgbClr val="1B2B33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Scope of Project</a:t>
              </a:r>
              <a:endParaRPr lang="en-US" sz="1450" dirty="0">
                <a:latin typeface="Arial" panose="020B0604020202020204" pitchFamily="34" charset="0"/>
              </a:endParaRPr>
            </a:p>
          </p:txBody>
        </p:sp>
        <p:sp>
          <p:nvSpPr>
            <p:cNvPr id="23" name="Shape 21"/>
            <p:cNvSpPr/>
            <p:nvPr/>
          </p:nvSpPr>
          <p:spPr>
            <a:xfrm>
              <a:off x="640080" y="5539740"/>
              <a:ext cx="5227168" cy="713232"/>
            </a:xfrm>
            <a:prstGeom prst="roundRect">
              <a:avLst>
                <a:gd name="adj" fmla="val 7692"/>
              </a:avLst>
            </a:prstGeom>
            <a:noFill/>
            <a:ln>
              <a:solidFill>
                <a:schemeClr val="tx1"/>
              </a:solidFill>
            </a:ln>
            <a:effectLst>
              <a:outerShdw blurRad="63500" dist="19050" dir="54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24" name="Shape 22"/>
            <p:cNvSpPr/>
            <p:nvPr/>
          </p:nvSpPr>
          <p:spPr>
            <a:xfrm>
              <a:off x="804672" y="5713476"/>
              <a:ext cx="365760" cy="365760"/>
            </a:xfrm>
            <a:prstGeom prst="ellipse">
              <a:avLst/>
            </a:prstGeom>
            <a:solidFill>
              <a:srgbClr val="0F2A3D"/>
            </a:solidFill>
            <a:ln/>
          </p:spPr>
        </p:sp>
        <p:sp>
          <p:nvSpPr>
            <p:cNvPr id="25" name="Text 23"/>
            <p:cNvSpPr/>
            <p:nvPr/>
          </p:nvSpPr>
          <p:spPr>
            <a:xfrm>
              <a:off x="804672" y="5713476"/>
              <a:ext cx="365760" cy="3657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06</a:t>
              </a:r>
              <a:endParaRPr lang="en-US" sz="1100" dirty="0">
                <a:latin typeface="Arial" panose="020B0604020202020204" pitchFamily="34" charset="0"/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1298448" y="5539740"/>
              <a:ext cx="4404208" cy="7132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50" b="1" dirty="0">
                  <a:solidFill>
                    <a:srgbClr val="1B2B33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Project Applications</a:t>
              </a:r>
              <a:endParaRPr lang="en-US" sz="1450" dirty="0">
                <a:latin typeface="Arial" panose="020B0604020202020204" pitchFamily="34" charset="0"/>
              </a:endParaRPr>
            </a:p>
          </p:txBody>
        </p:sp>
        <p:sp>
          <p:nvSpPr>
            <p:cNvPr id="27" name="Shape 25"/>
            <p:cNvSpPr/>
            <p:nvPr/>
          </p:nvSpPr>
          <p:spPr>
            <a:xfrm>
              <a:off x="6324448" y="1150620"/>
              <a:ext cx="5227168" cy="713232"/>
            </a:xfrm>
            <a:prstGeom prst="roundRect">
              <a:avLst>
                <a:gd name="adj" fmla="val 7692"/>
              </a:avLst>
            </a:prstGeom>
            <a:noFill/>
            <a:ln>
              <a:solidFill>
                <a:schemeClr val="tx1"/>
              </a:solidFill>
            </a:ln>
            <a:effectLst>
              <a:outerShdw blurRad="63500" dist="19050" dir="54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28" name="Shape 26"/>
            <p:cNvSpPr/>
            <p:nvPr/>
          </p:nvSpPr>
          <p:spPr>
            <a:xfrm>
              <a:off x="6489040" y="1324356"/>
              <a:ext cx="365760" cy="3657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</p:sp>
        <p:sp>
          <p:nvSpPr>
            <p:cNvPr id="29" name="Text 27"/>
            <p:cNvSpPr/>
            <p:nvPr/>
          </p:nvSpPr>
          <p:spPr>
            <a:xfrm>
              <a:off x="6489040" y="1324356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07</a:t>
              </a:r>
              <a:endParaRPr lang="en-US" sz="1100" dirty="0">
                <a:latin typeface="Arial" panose="020B0604020202020204" pitchFamily="34" charset="0"/>
              </a:endParaRPr>
            </a:p>
          </p:txBody>
        </p:sp>
        <p:sp>
          <p:nvSpPr>
            <p:cNvPr id="30" name="Text 28"/>
            <p:cNvSpPr/>
            <p:nvPr/>
          </p:nvSpPr>
          <p:spPr>
            <a:xfrm>
              <a:off x="6982816" y="1150620"/>
              <a:ext cx="4404208" cy="7132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50" b="1" dirty="0">
                  <a:solidFill>
                    <a:srgbClr val="1B2B33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Methodology</a:t>
              </a:r>
              <a:endParaRPr lang="en-US" sz="1450" dirty="0">
                <a:latin typeface="Arial" panose="020B0604020202020204" pitchFamily="34" charset="0"/>
              </a:endParaRPr>
            </a:p>
          </p:txBody>
        </p:sp>
        <p:sp>
          <p:nvSpPr>
            <p:cNvPr id="31" name="Shape 29"/>
            <p:cNvSpPr/>
            <p:nvPr/>
          </p:nvSpPr>
          <p:spPr>
            <a:xfrm>
              <a:off x="6324448" y="2028444"/>
              <a:ext cx="5227168" cy="713232"/>
            </a:xfrm>
            <a:prstGeom prst="roundRect">
              <a:avLst>
                <a:gd name="adj" fmla="val 7692"/>
              </a:avLst>
            </a:prstGeom>
            <a:noFill/>
            <a:ln>
              <a:solidFill>
                <a:schemeClr val="tx1"/>
              </a:solidFill>
            </a:ln>
            <a:effectLst>
              <a:outerShdw blurRad="63500" dist="19050" dir="54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32" name="Shape 30"/>
            <p:cNvSpPr/>
            <p:nvPr/>
          </p:nvSpPr>
          <p:spPr>
            <a:xfrm>
              <a:off x="6489040" y="2202180"/>
              <a:ext cx="365760" cy="3657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</p:sp>
        <p:sp>
          <p:nvSpPr>
            <p:cNvPr id="33" name="Text 31"/>
            <p:cNvSpPr/>
            <p:nvPr/>
          </p:nvSpPr>
          <p:spPr>
            <a:xfrm>
              <a:off x="6489040" y="220218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08</a:t>
              </a:r>
              <a:endParaRPr lang="en-US" sz="1100" dirty="0">
                <a:latin typeface="Arial" panose="020B0604020202020204" pitchFamily="34" charset="0"/>
              </a:endParaRPr>
            </a:p>
          </p:txBody>
        </p:sp>
        <p:sp>
          <p:nvSpPr>
            <p:cNvPr id="34" name="Text 32"/>
            <p:cNvSpPr/>
            <p:nvPr/>
          </p:nvSpPr>
          <p:spPr>
            <a:xfrm>
              <a:off x="6982816" y="2028444"/>
              <a:ext cx="4404208" cy="7132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50" b="1" dirty="0">
                  <a:solidFill>
                    <a:srgbClr val="1B2B33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Feasibility Study (Analysis)</a:t>
              </a:r>
              <a:endParaRPr lang="en-US" sz="1450" dirty="0">
                <a:latin typeface="Arial" panose="020B0604020202020204" pitchFamily="34" charset="0"/>
              </a:endParaRPr>
            </a:p>
          </p:txBody>
        </p:sp>
        <p:sp>
          <p:nvSpPr>
            <p:cNvPr id="35" name="Shape 33"/>
            <p:cNvSpPr/>
            <p:nvPr/>
          </p:nvSpPr>
          <p:spPr>
            <a:xfrm>
              <a:off x="6324448" y="2906268"/>
              <a:ext cx="5227168" cy="713232"/>
            </a:xfrm>
            <a:prstGeom prst="roundRect">
              <a:avLst>
                <a:gd name="adj" fmla="val 7692"/>
              </a:avLst>
            </a:prstGeom>
            <a:noFill/>
            <a:ln>
              <a:solidFill>
                <a:schemeClr val="tx1"/>
              </a:solidFill>
            </a:ln>
            <a:effectLst>
              <a:outerShdw blurRad="63500" dist="19050" dir="54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36" name="Shape 34"/>
            <p:cNvSpPr/>
            <p:nvPr/>
          </p:nvSpPr>
          <p:spPr>
            <a:xfrm>
              <a:off x="6489040" y="3080004"/>
              <a:ext cx="365760" cy="3657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</p:sp>
        <p:sp>
          <p:nvSpPr>
            <p:cNvPr id="37" name="Text 35"/>
            <p:cNvSpPr/>
            <p:nvPr/>
          </p:nvSpPr>
          <p:spPr>
            <a:xfrm>
              <a:off x="6489040" y="3080004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09</a:t>
              </a:r>
              <a:endParaRPr lang="en-US" sz="1100" dirty="0">
                <a:latin typeface="Arial" panose="020B0604020202020204" pitchFamily="34" charset="0"/>
              </a:endParaRPr>
            </a:p>
          </p:txBody>
        </p:sp>
        <p:sp>
          <p:nvSpPr>
            <p:cNvPr id="38" name="Text 36"/>
            <p:cNvSpPr/>
            <p:nvPr/>
          </p:nvSpPr>
          <p:spPr>
            <a:xfrm>
              <a:off x="6982816" y="2906268"/>
              <a:ext cx="4404208" cy="7132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50" b="1" dirty="0">
                  <a:solidFill>
                    <a:srgbClr val="1B2B33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Expected Output</a:t>
              </a:r>
              <a:endParaRPr lang="en-US" sz="1450" dirty="0">
                <a:latin typeface="Arial" panose="020B0604020202020204" pitchFamily="34" charset="0"/>
              </a:endParaRPr>
            </a:p>
          </p:txBody>
        </p:sp>
        <p:sp>
          <p:nvSpPr>
            <p:cNvPr id="39" name="Shape 37"/>
            <p:cNvSpPr/>
            <p:nvPr/>
          </p:nvSpPr>
          <p:spPr>
            <a:xfrm>
              <a:off x="6324448" y="3784092"/>
              <a:ext cx="5227168" cy="713232"/>
            </a:xfrm>
            <a:prstGeom prst="roundRect">
              <a:avLst>
                <a:gd name="adj" fmla="val 7692"/>
              </a:avLst>
            </a:prstGeom>
            <a:noFill/>
            <a:ln>
              <a:solidFill>
                <a:schemeClr val="tx1"/>
              </a:solidFill>
            </a:ln>
            <a:effectLst>
              <a:outerShdw blurRad="63500" dist="19050" dir="54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40" name="Shape 38"/>
            <p:cNvSpPr/>
            <p:nvPr/>
          </p:nvSpPr>
          <p:spPr>
            <a:xfrm>
              <a:off x="6489040" y="3957828"/>
              <a:ext cx="365760" cy="3657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</p:sp>
        <p:sp>
          <p:nvSpPr>
            <p:cNvPr id="41" name="Text 39"/>
            <p:cNvSpPr/>
            <p:nvPr/>
          </p:nvSpPr>
          <p:spPr>
            <a:xfrm>
              <a:off x="6489040" y="3957828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10</a:t>
              </a:r>
              <a:endParaRPr lang="en-US" sz="1100" dirty="0">
                <a:latin typeface="Arial" panose="020B0604020202020204" pitchFamily="34" charset="0"/>
              </a:endParaRPr>
            </a:p>
          </p:txBody>
        </p:sp>
        <p:sp>
          <p:nvSpPr>
            <p:cNvPr id="42" name="Text 40"/>
            <p:cNvSpPr/>
            <p:nvPr/>
          </p:nvSpPr>
          <p:spPr>
            <a:xfrm>
              <a:off x="6982816" y="3784092"/>
              <a:ext cx="4404208" cy="7132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50" b="1" dirty="0">
                  <a:solidFill>
                    <a:srgbClr val="1B2B33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Future Enhancements</a:t>
              </a:r>
              <a:endParaRPr lang="en-US" sz="1450" dirty="0">
                <a:latin typeface="Arial" panose="020B0604020202020204" pitchFamily="34" charset="0"/>
              </a:endParaRPr>
            </a:p>
          </p:txBody>
        </p:sp>
        <p:sp>
          <p:nvSpPr>
            <p:cNvPr id="43" name="Shape 41"/>
            <p:cNvSpPr/>
            <p:nvPr/>
          </p:nvSpPr>
          <p:spPr>
            <a:xfrm>
              <a:off x="6324448" y="4661916"/>
              <a:ext cx="5227168" cy="713232"/>
            </a:xfrm>
            <a:prstGeom prst="roundRect">
              <a:avLst>
                <a:gd name="adj" fmla="val 7692"/>
              </a:avLst>
            </a:prstGeom>
            <a:noFill/>
            <a:ln>
              <a:solidFill>
                <a:schemeClr val="tx1"/>
              </a:solidFill>
            </a:ln>
            <a:effectLst>
              <a:outerShdw blurRad="63500" dist="19050" dir="54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44" name="Shape 42"/>
            <p:cNvSpPr/>
            <p:nvPr/>
          </p:nvSpPr>
          <p:spPr>
            <a:xfrm>
              <a:off x="6489040" y="4835652"/>
              <a:ext cx="365760" cy="3657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</p:sp>
        <p:sp>
          <p:nvSpPr>
            <p:cNvPr id="45" name="Text 43"/>
            <p:cNvSpPr/>
            <p:nvPr/>
          </p:nvSpPr>
          <p:spPr>
            <a:xfrm>
              <a:off x="6489040" y="4835652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11</a:t>
              </a:r>
              <a:endParaRPr lang="en-US" sz="1100" dirty="0">
                <a:latin typeface="Arial" panose="020B0604020202020204" pitchFamily="34" charset="0"/>
              </a:endParaRPr>
            </a:p>
          </p:txBody>
        </p:sp>
        <p:sp>
          <p:nvSpPr>
            <p:cNvPr id="46" name="Text 44"/>
            <p:cNvSpPr/>
            <p:nvPr/>
          </p:nvSpPr>
          <p:spPr>
            <a:xfrm>
              <a:off x="6982816" y="4661916"/>
              <a:ext cx="4404208" cy="7132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50" b="1" dirty="0">
                  <a:solidFill>
                    <a:srgbClr val="1B2B33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Conclusion</a:t>
              </a:r>
              <a:endParaRPr lang="en-US" sz="1450" dirty="0">
                <a:latin typeface="Arial" panose="020B0604020202020204" pitchFamily="34" charset="0"/>
              </a:endParaRPr>
            </a:p>
          </p:txBody>
        </p:sp>
        <p:sp>
          <p:nvSpPr>
            <p:cNvPr id="47" name="Shape 45"/>
            <p:cNvSpPr/>
            <p:nvPr/>
          </p:nvSpPr>
          <p:spPr>
            <a:xfrm>
              <a:off x="6324448" y="5539740"/>
              <a:ext cx="5227168" cy="713232"/>
            </a:xfrm>
            <a:prstGeom prst="roundRect">
              <a:avLst>
                <a:gd name="adj" fmla="val 7692"/>
              </a:avLst>
            </a:prstGeom>
            <a:noFill/>
            <a:ln>
              <a:solidFill>
                <a:schemeClr val="tx1"/>
              </a:solidFill>
            </a:ln>
            <a:effectLst>
              <a:outerShdw blurRad="63500" dist="19050" dir="54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48" name="Shape 46"/>
            <p:cNvSpPr/>
            <p:nvPr/>
          </p:nvSpPr>
          <p:spPr>
            <a:xfrm>
              <a:off x="6489040" y="5713476"/>
              <a:ext cx="365760" cy="365760"/>
            </a:xfrm>
            <a:prstGeom prst="ellipse">
              <a:avLst/>
            </a:prstGeom>
            <a:solidFill>
              <a:srgbClr val="0F2A3D"/>
            </a:solidFill>
            <a:ln/>
          </p:spPr>
        </p:sp>
        <p:sp>
          <p:nvSpPr>
            <p:cNvPr id="49" name="Text 47"/>
            <p:cNvSpPr/>
            <p:nvPr/>
          </p:nvSpPr>
          <p:spPr>
            <a:xfrm>
              <a:off x="6489040" y="5713476"/>
              <a:ext cx="365760" cy="3657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12</a:t>
              </a:r>
              <a:endParaRPr lang="en-US" sz="1100" dirty="0">
                <a:latin typeface="Arial" panose="020B0604020202020204" pitchFamily="34" charset="0"/>
              </a:endParaRPr>
            </a:p>
          </p:txBody>
        </p:sp>
        <p:sp>
          <p:nvSpPr>
            <p:cNvPr id="50" name="Text 48"/>
            <p:cNvSpPr/>
            <p:nvPr/>
          </p:nvSpPr>
          <p:spPr>
            <a:xfrm>
              <a:off x="6982816" y="5539740"/>
              <a:ext cx="4404208" cy="7132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50" b="1" dirty="0">
                  <a:solidFill>
                    <a:srgbClr val="1B2B33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References</a:t>
              </a:r>
              <a:endParaRPr lang="en-US" sz="1450" dirty="0">
                <a:latin typeface="Arial" panose="020B0604020202020204" pitchFamily="34" charset="0"/>
              </a:endParaRPr>
            </a:p>
          </p:txBody>
        </p:sp>
      </p:grpSp>
      <p:sp>
        <p:nvSpPr>
          <p:cNvPr id="51" name="Text 49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July 13, 2026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1100297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35EEC3CA-5934-4636-832D-3CFE1A7B06BC}" type="slidenum"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</a:t>
            </a:fld>
            <a:endParaRPr lang="en-US" sz="95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MOTIVATION</a:t>
            </a:r>
            <a:endParaRPr lang="en-US" sz="1300" dirty="0">
              <a:latin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Why SPARK, Why Now</a:t>
            </a:r>
            <a:endParaRPr lang="en-US" sz="3600" dirty="0">
              <a:latin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291840" cy="1783080"/>
          </a:xfrm>
          <a:prstGeom prst="roundRect">
            <a:avLst>
              <a:gd name="adj" fmla="val 4103"/>
            </a:avLst>
          </a:prstGeom>
          <a:noFill/>
          <a:ln>
            <a:solidFill>
              <a:schemeClr val="tx1"/>
            </a:solidFill>
          </a:ln>
        </p:spPr>
      </p:sp>
      <p:sp>
        <p:nvSpPr>
          <p:cNvPr id="5" name="Text 3"/>
          <p:cNvSpPr/>
          <p:nvPr/>
        </p:nvSpPr>
        <p:spPr>
          <a:xfrm>
            <a:off x="640080" y="157276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684,000</a:t>
            </a:r>
            <a:endParaRPr lang="en-US" sz="4000" dirty="0">
              <a:latin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fatal falls occur worldwide every year — the 2nd leading cause of unintentional injury death (WHO, 2007)</a:t>
            </a:r>
            <a:endParaRPr lang="en-US" sz="1150" dirty="0">
              <a:latin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3364992"/>
            <a:ext cx="3291840" cy="1783080"/>
          </a:xfrm>
          <a:prstGeom prst="roundRect">
            <a:avLst>
              <a:gd name="adj" fmla="val 4103"/>
            </a:avLst>
          </a:prstGeom>
          <a:noFill/>
          <a:ln>
            <a:solidFill>
              <a:schemeClr val="tx1"/>
            </a:solidFill>
          </a:ln>
        </p:spPr>
      </p:sp>
      <p:sp>
        <p:nvSpPr>
          <p:cNvPr id="8" name="Text 6"/>
          <p:cNvSpPr/>
          <p:nvPr/>
        </p:nvSpPr>
        <p:spPr>
          <a:xfrm>
            <a:off x="640080" y="35204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2× by 2035</a:t>
            </a:r>
            <a:endParaRPr lang="en-US" sz="3400" dirty="0">
              <a:latin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68680" y="425196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Nepal's population aged 65+ is projected to double by 2035 (Central Bureau of Statistics, Nepal)</a:t>
            </a:r>
            <a:endParaRPr lang="en-US" sz="1150" dirty="0">
              <a:latin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389120" y="1463040"/>
            <a:ext cx="716249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No domestic fall-detection product exists in the Nepali market today</a:t>
            </a:r>
            <a:endParaRPr lang="en-US" sz="1350" dirty="0">
              <a:latin typeface="Arial" panose="020B0604020202020204" pitchFamily="34" charset="0"/>
            </a:endParaRPr>
          </a:p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Commercial options such as the Apple Watch SE (2nd gen, above NPR 30,000) are cost-prohibitive and require proprietary ecosystems</a:t>
            </a:r>
            <a:endParaRPr lang="en-US" sz="1350" dirty="0">
              <a:latin typeface="Arial" panose="020B0604020202020204" pitchFamily="34" charset="0"/>
            </a:endParaRPr>
          </a:p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Urban WiFi penetration in Kathmandu is increasingly reliable, making a local WiFi-based alert pipeline practically deployable</a:t>
            </a:r>
            <a:endParaRPr lang="en-US" sz="1350" dirty="0">
              <a:latin typeface="Arial" panose="020B0604020202020204" pitchFamily="34" charset="0"/>
            </a:endParaRPr>
          </a:p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Published academic systems rely on either threshold-only detection (high false positives) or cloud-dependent ML (unacceptable network dependency)</a:t>
            </a:r>
            <a:endParaRPr lang="en-US" sz="1350" dirty="0">
              <a:latin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July 13, 2026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809848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Motivation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00297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7170B813-FC16-4219-B3C0-891AF31AFF94}" type="slidenum"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</a:t>
            </a:fld>
            <a:endParaRPr lang="en-US" sz="95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INTRODUCTION</a:t>
            </a:r>
            <a:endParaRPr lang="en-US" sz="1300" dirty="0">
              <a:latin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Background &amp; Problem Statement</a:t>
            </a:r>
            <a:endParaRPr lang="en-US" sz="3600" dirty="0">
              <a:latin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The Situation Today</a:t>
            </a:r>
            <a:endParaRPr lang="en-US" sz="1600" dirty="0">
              <a:latin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5227168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●"/>
            </a:pPr>
            <a:r>
              <a:rPr lang="en-US" sz="12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Falls cause serious injuries — hip fractures, traumatic brain injuries, and long-term disability</a:t>
            </a:r>
            <a:endParaRPr lang="en-US" sz="1250" dirty="0">
              <a:latin typeface="Arial" panose="020B0604020202020204" pitchFamily="34" charset="0"/>
            </a:endParaRPr>
          </a:p>
          <a:p>
            <a:pPr marL="177800" indent="-177800">
              <a:spcAft>
                <a:spcPts val="1100"/>
              </a:spcAft>
              <a:buSzPct val="100000"/>
              <a:buChar char="●"/>
            </a:pPr>
            <a:r>
              <a:rPr lang="en-US" sz="12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No domestic fall-detection product exists despite Nepal's growing elderly population</a:t>
            </a:r>
            <a:endParaRPr lang="en-US" sz="1250" dirty="0">
              <a:latin typeface="Arial" panose="020B0604020202020204" pitchFamily="34" charset="0"/>
            </a:endParaRPr>
          </a:p>
          <a:p>
            <a:pPr marL="177800" indent="-177800">
              <a:spcAft>
                <a:spcPts val="1100"/>
              </a:spcAft>
              <a:buSzPct val="100000"/>
              <a:buChar char="●"/>
            </a:pPr>
            <a:r>
              <a:rPr lang="en-US" sz="12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Academic systems use threshold-only detection (high false positives) or cloud-dependent ML (unacceptable network dependency)</a:t>
            </a:r>
            <a:endParaRPr lang="en-US" sz="1250" dirty="0">
              <a:latin typeface="Arial" panose="020B0604020202020204" pitchFamily="34" charset="0"/>
            </a:endParaRPr>
          </a:p>
          <a:p>
            <a:pPr marL="177800" indent="-177800">
              <a:spcAft>
                <a:spcPts val="1100"/>
              </a:spcAft>
              <a:buSzPct val="100000"/>
              <a:buChar char="●"/>
            </a:pPr>
            <a:r>
              <a:rPr lang="en-US" sz="12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No published system has been validated on Nepal-context data or offers per-event classifier explainability</a:t>
            </a:r>
            <a:endParaRPr lang="en-US" sz="1250" dirty="0">
              <a:latin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324448" y="141732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Problem Statement</a:t>
            </a:r>
            <a:endParaRPr lang="en-US" sz="1600" dirty="0">
              <a:latin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324448" y="1828800"/>
            <a:ext cx="5227168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●"/>
            </a:pPr>
            <a:r>
              <a:rPr lang="en-US" sz="12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Falls are the leading cause of injury-related mortality among adults over 65 globally</a:t>
            </a:r>
            <a:endParaRPr lang="en-US" sz="1250" dirty="0">
              <a:latin typeface="Arial" panose="020B0604020202020204" pitchFamily="34" charset="0"/>
            </a:endParaRPr>
          </a:p>
          <a:p>
            <a:pPr marL="177800" indent="-177800">
              <a:spcAft>
                <a:spcPts val="1100"/>
              </a:spcAft>
              <a:buSzPct val="100000"/>
              <a:buChar char="●"/>
            </a:pPr>
            <a:r>
              <a:rPr lang="en-US" sz="12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Commercial systems (Apple Watch, Samsung Galaxy Watch, Withings ScanWatch) are cost-prohibitive, proprietary, and black-box (binary verdict, no explanation)</a:t>
            </a:r>
            <a:endParaRPr lang="en-US" sz="1250" dirty="0">
              <a:latin typeface="Arial" panose="020B0604020202020204" pitchFamily="34" charset="0"/>
            </a:endParaRPr>
          </a:p>
          <a:p>
            <a:pPr marL="177800" indent="-177800">
              <a:spcAft>
                <a:spcPts val="1100"/>
              </a:spcAft>
              <a:buSzPct val="100000"/>
              <a:buChar char="●"/>
            </a:pPr>
            <a:r>
              <a:rPr lang="en-US" sz="12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No open-hardware system combines: two-layer gated on-device inference, SHAP-based explainability, adaptive sensitivity profiles, and clinical-format incident reporting on a Nepal-context dataset</a:t>
            </a:r>
            <a:endParaRPr lang="en-US" sz="1250" dirty="0">
              <a:latin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July 13, 2026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809848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Introduction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00297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8D5ADC92-100C-4573-9F18-6EDC54C8F4AA}" type="slidenum"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4</a:t>
            </a:fld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F9B546-B6F8-437D-A449-604D0D4B8BEC}"/>
              </a:ext>
            </a:extLst>
          </p:cNvPr>
          <p:cNvSpPr txBox="1"/>
          <p:nvPr/>
        </p:nvSpPr>
        <p:spPr>
          <a:xfrm>
            <a:off x="3253664" y="5256014"/>
            <a:ext cx="5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i="1" dirty="0"/>
              <a:t>SPARK</a:t>
            </a:r>
            <a:r>
              <a:rPr lang="en-GB" i="1" dirty="0"/>
              <a:t> : Signal Pattern Analysis &amp; Real-time Kinetics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OBJECTIVES</a:t>
            </a:r>
            <a:endParaRPr lang="en-US" sz="1300" dirty="0">
              <a:latin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What This Project Sets Out to Do</a:t>
            </a:r>
            <a:endParaRPr lang="en-US" sz="3600" dirty="0">
              <a:latin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332378" cy="3566160"/>
          </a:xfrm>
          <a:prstGeom prst="roundRect">
            <a:avLst>
              <a:gd name="adj" fmla="val 2195"/>
            </a:avLst>
          </a:prstGeom>
          <a:noFill/>
          <a:ln>
            <a:solidFill>
              <a:schemeClr val="tx1"/>
            </a:solidFill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965960"/>
            <a:ext cx="3332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01</a:t>
            </a:r>
            <a:endParaRPr lang="en-US" sz="4600" dirty="0">
              <a:latin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60120" y="2971800"/>
            <a:ext cx="269229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Construct the hardware structure of a wearable edge-computing node.</a:t>
            </a:r>
            <a:endParaRPr lang="en-US" sz="1400" dirty="0">
              <a:latin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429658" y="1737360"/>
            <a:ext cx="3332378" cy="3566160"/>
          </a:xfrm>
          <a:prstGeom prst="roundRect">
            <a:avLst>
              <a:gd name="adj" fmla="val 2195"/>
            </a:avLst>
          </a:prstGeom>
          <a:noFill/>
          <a:ln>
            <a:solidFill>
              <a:schemeClr val="tx1"/>
            </a:solidFill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29658" y="1965960"/>
            <a:ext cx="3332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02</a:t>
            </a:r>
            <a:endParaRPr lang="en-US" sz="4600" dirty="0">
              <a:latin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749698" y="2971800"/>
            <a:ext cx="269229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Integrate a two-layer gated AI architecture for cloud-independent, real-time fall classification.</a:t>
            </a:r>
            <a:endParaRPr lang="en-US" sz="1400" dirty="0">
              <a:latin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219237" y="1737360"/>
            <a:ext cx="3332378" cy="3566160"/>
          </a:xfrm>
          <a:prstGeom prst="roundRect">
            <a:avLst>
              <a:gd name="adj" fmla="val 2195"/>
            </a:avLst>
          </a:prstGeom>
          <a:noFill/>
          <a:ln>
            <a:solidFill>
              <a:schemeClr val="tx1"/>
            </a:solidFill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19237" y="1965960"/>
            <a:ext cx="3332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03</a:t>
            </a:r>
            <a:endParaRPr lang="en-US" sz="4600" dirty="0">
              <a:latin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539277" y="2971800"/>
            <a:ext cx="269229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Implement SHAP-based explainability to log and render transparent feature attribution per event.</a:t>
            </a:r>
          </a:p>
        </p:txBody>
      </p:sp>
      <p:sp>
        <p:nvSpPr>
          <p:cNvPr id="13" name="Text 11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July 13, 2026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809848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Objectives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00297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7DD7A7DA-F279-48B9-81DA-716A32CF6363}" type="slidenum"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5</a:t>
            </a:fld>
            <a:endParaRPr lang="en-US" sz="95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spc="300" dirty="0"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LITERATURE REVIEW</a:t>
            </a:r>
            <a:endParaRPr lang="en-US" sz="1400" spc="300" dirty="0">
              <a:latin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latin typeface="Arial" panose="020B0604020202020204" pitchFamily="34" charset="0"/>
              </a:rPr>
              <a:t>Related Work: Contributions &amp; Gaps</a:t>
            </a: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8546626"/>
              </p:ext>
            </p:extLst>
          </p:nvPr>
        </p:nvGraphicFramePr>
        <p:xfrm>
          <a:off x="644769" y="1417320"/>
          <a:ext cx="11274552" cy="48006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Author(s) &amp; Year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Contribution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Limitation / Gap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B33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Kangas et al. (2008)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B33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Compared threshold algorithms on hip and wrist IMU data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B33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Sensitivity 73–95%; false-positive rate exceeding 30% on vigorous ADLs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B33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Bourke &amp; Lyons (2008)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B33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Dual-axis threshold method achieving 96% sensitivity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B33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Specificity on sit-to-stand transitions remained problematic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B33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Sucerquia et al. (2017)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B33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Published the SisFall dataset — 15 fall types, 19 ADL types, 38 subjects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B33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Feature-based classifiers still ran on a connected laptop/server, not the wearable itself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B33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Nho et al. (2021)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B33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1D CNN on UCI MHEALTH + SisFall — 97.2% sensitivity, 98.1% specificity, &lt;150 KB model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B33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Ran on a Raspberry Pi 3, not a resource-constrained microcontroller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B33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Wang et al. (2020)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B33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LSTM architecture on continuous IMU streams, comparable accuracy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B33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Inference latency unsuitable for real-time embedded detection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B33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David et al. (2021)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B33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Demonstrated TFLite Micro INT8 CNN inference on Cortex-M4 (&lt;250 KB flash)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B33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Establishes general feasibility only — not applied to fall detection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B33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Lundberg &amp; Lee (2017)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B33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Introduced SHAP — a unified framework for model interpretability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B33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Not previously applied at the per-event level in wearable fall detection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B33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Kumar et al. (2022)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B33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Threshold-gated classifier on Arduino Nano 33 BLE Sense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B33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No on-device CNN or gateway-level SHAP explainability</a:t>
                      </a:r>
                      <a:endParaRPr lang="en-US" sz="11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July 13, 2026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3809848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Literature Review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4" name="Text 4"/>
          <p:cNvSpPr/>
          <p:nvPr/>
        </p:nvSpPr>
        <p:spPr>
          <a:xfrm>
            <a:off x="1100297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D4C9755A-79A8-4860-9B78-C63A9411E1D8}" type="slidenum"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6</a:t>
            </a:fld>
            <a:endParaRPr lang="en-US" sz="95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SCOPE OF PROJECT</a:t>
            </a:r>
            <a:endParaRPr lang="en-US" sz="1300" dirty="0">
              <a:latin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What SPARK Covers</a:t>
            </a:r>
            <a:endParaRPr lang="en-US" sz="3600" dirty="0">
              <a:latin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227168" cy="1417320"/>
          </a:xfrm>
          <a:prstGeom prst="roundRect">
            <a:avLst>
              <a:gd name="adj" fmla="val 4516"/>
            </a:avLst>
          </a:prstGeom>
          <a:noFill/>
          <a:ln>
            <a:solidFill>
              <a:schemeClr val="tx1"/>
            </a:solidFill>
          </a:ln>
        </p:spPr>
      </p:sp>
      <p:sp>
        <p:nvSpPr>
          <p:cNvPr id="5" name="Shape 3"/>
          <p:cNvSpPr/>
          <p:nvPr/>
        </p:nvSpPr>
        <p:spPr>
          <a:xfrm>
            <a:off x="868680" y="180594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icons/wave_teal.png"/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1033272" y="197053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627632"/>
            <a:ext cx="385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On-Device Data Acquisition</a:t>
            </a:r>
            <a:endParaRPr lang="en-US" sz="1350" dirty="0">
              <a:latin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783080" y="1965960"/>
            <a:ext cx="385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Sample and filter 6-axis accelerometer and gyroscope data directly on the wearable node at a continuous 100 Hz.</a:t>
            </a:r>
            <a:endParaRPr lang="en-US" sz="1080" dirty="0">
              <a:latin typeface="Arial" panose="020B06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324448" y="1463040"/>
            <a:ext cx="5227168" cy="1417320"/>
          </a:xfrm>
          <a:prstGeom prst="roundRect">
            <a:avLst>
              <a:gd name="adj" fmla="val 4516"/>
            </a:avLst>
          </a:prstGeom>
          <a:noFill/>
          <a:ln>
            <a:solidFill>
              <a:schemeClr val="tx1"/>
            </a:solidFill>
          </a:ln>
        </p:spPr>
      </p:sp>
      <p:sp>
        <p:nvSpPr>
          <p:cNvPr id="10" name="Shape 7"/>
          <p:cNvSpPr/>
          <p:nvPr/>
        </p:nvSpPr>
        <p:spPr>
          <a:xfrm>
            <a:off x="6553048" y="180594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icons/microchip_teal.png"/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6717640" y="197053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67448" y="1627632"/>
            <a:ext cx="385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Dual-Layer Gated Inference</a:t>
            </a:r>
            <a:endParaRPr lang="en-US" sz="1350" dirty="0">
              <a:latin typeface="Arial" panose="020B0604020202020204" pitchFamily="3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7467448" y="1965960"/>
            <a:ext cx="385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 fast threshold check wakes an on-device, quantized 1D CNN classifier only when a potential fall signature is detected.</a:t>
            </a:r>
            <a:endParaRPr lang="en-US" sz="1080" dirty="0">
              <a:latin typeface="Arial" panose="020B0604020202020204" pitchFamily="34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40080" y="3063240"/>
            <a:ext cx="5227168" cy="1417320"/>
          </a:xfrm>
          <a:prstGeom prst="roundRect">
            <a:avLst>
              <a:gd name="adj" fmla="val 4516"/>
            </a:avLst>
          </a:prstGeom>
          <a:noFill/>
          <a:ln>
            <a:solidFill>
              <a:schemeClr val="tx1"/>
            </a:solidFill>
          </a:ln>
        </p:spPr>
      </p:sp>
      <p:sp>
        <p:nvSpPr>
          <p:cNvPr id="15" name="Shape 11"/>
          <p:cNvSpPr/>
          <p:nvPr/>
        </p:nvSpPr>
        <p:spPr>
          <a:xfrm>
            <a:off x="868680" y="340614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icons/server_teal.png"/>
          <p:cNvPicPr>
            <a:picLocks noChangeAspect="1"/>
          </p:cNvPicPr>
          <p:nvPr/>
        </p:nvPicPr>
        <p:blipFill>
          <a:blip r:embed="rId5">
            <a:biLevel thresh="75000"/>
          </a:blip>
          <a:stretch>
            <a:fillRect/>
          </a:stretch>
        </p:blipFill>
        <p:spPr>
          <a:xfrm>
            <a:off x="1033272" y="357073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3227832"/>
            <a:ext cx="385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Gateway Ingestion &amp; Storage</a:t>
            </a:r>
            <a:endParaRPr lang="en-US" sz="1350" dirty="0">
              <a:latin typeface="Arial" panose="020B0604020202020204" pitchFamily="34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1783080" y="3566160"/>
            <a:ext cx="385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 localized FastAPI + PostgreSQL backend securely saves event history and user configuration data.</a:t>
            </a:r>
            <a:endParaRPr lang="en-US" sz="1080" dirty="0">
              <a:latin typeface="Arial" panose="020B0604020202020204" pitchFamily="34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6324448" y="3063240"/>
            <a:ext cx="5227168" cy="1417320"/>
          </a:xfrm>
          <a:prstGeom prst="roundRect">
            <a:avLst>
              <a:gd name="adj" fmla="val 4516"/>
            </a:avLst>
          </a:prstGeom>
          <a:noFill/>
          <a:ln>
            <a:solidFill>
              <a:schemeClr val="tx1"/>
            </a:solidFill>
          </a:ln>
        </p:spPr>
      </p:sp>
      <p:sp>
        <p:nvSpPr>
          <p:cNvPr id="20" name="Shape 15"/>
          <p:cNvSpPr/>
          <p:nvPr/>
        </p:nvSpPr>
        <p:spPr>
          <a:xfrm>
            <a:off x="6553048" y="340614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icons/brain_teal.png"/>
          <p:cNvPicPr>
            <a:picLocks noChangeAspect="1"/>
          </p:cNvPicPr>
          <p:nvPr/>
        </p:nvPicPr>
        <p:blipFill>
          <a:blip r:embed="rId6">
            <a:biLevel thresh="75000"/>
          </a:blip>
          <a:stretch>
            <a:fillRect/>
          </a:stretch>
        </p:blipFill>
        <p:spPr>
          <a:xfrm>
            <a:off x="6717640" y="3570732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67448" y="3227832"/>
            <a:ext cx="385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SHAP Explainability Pipeline</a:t>
            </a:r>
            <a:endParaRPr lang="en-US" sz="1350" dirty="0">
              <a:latin typeface="Arial" panose="020B0604020202020204" pitchFamily="34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7467448" y="3566160"/>
            <a:ext cx="385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Shapley additive feature values are computed at the gateway to show caregivers exactly which movements triggered the alarm.</a:t>
            </a:r>
            <a:endParaRPr lang="en-US" sz="1080" dirty="0">
              <a:latin typeface="Arial" panose="020B0604020202020204" pitchFamily="34" charset="0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640080" y="4663440"/>
            <a:ext cx="5227168" cy="1417320"/>
          </a:xfrm>
          <a:prstGeom prst="roundRect">
            <a:avLst>
              <a:gd name="adj" fmla="val 4516"/>
            </a:avLst>
          </a:prstGeom>
          <a:noFill/>
          <a:ln>
            <a:solidFill>
              <a:schemeClr val="tx1"/>
            </a:solidFill>
          </a:ln>
        </p:spPr>
      </p:sp>
      <p:sp>
        <p:nvSpPr>
          <p:cNvPr id="25" name="Shape 19"/>
          <p:cNvSpPr/>
          <p:nvPr/>
        </p:nvSpPr>
        <p:spPr>
          <a:xfrm>
            <a:off x="868680" y="500634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icons/telegram_teal.png"/>
          <p:cNvPicPr>
            <a:picLocks noChangeAspect="1"/>
          </p:cNvPicPr>
          <p:nvPr/>
        </p:nvPicPr>
        <p:blipFill>
          <a:blip r:embed="rId7">
            <a:biLevel thresh="75000"/>
          </a:blip>
          <a:stretch>
            <a:fillRect/>
          </a:stretch>
        </p:blipFill>
        <p:spPr>
          <a:xfrm>
            <a:off x="1033272" y="5170932"/>
            <a:ext cx="402336" cy="40233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783080" y="4828032"/>
            <a:ext cx="385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Instant Caregiver Alerting</a:t>
            </a:r>
            <a:endParaRPr lang="en-US" sz="1350" dirty="0">
              <a:latin typeface="Arial" panose="020B0604020202020204" pitchFamily="34" charset="0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1783080" y="5166360"/>
            <a:ext cx="385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Confirmed fall events are routed to a Telegram Bot, messaging caregivers within two seconds of an incident.</a:t>
            </a:r>
            <a:endParaRPr lang="en-US" sz="1080" dirty="0">
              <a:latin typeface="Arial" panose="020B0604020202020204" pitchFamily="34" charset="0"/>
            </a:endParaRPr>
          </a:p>
        </p:txBody>
      </p:sp>
      <p:sp>
        <p:nvSpPr>
          <p:cNvPr id="29" name="Shape 22"/>
          <p:cNvSpPr/>
          <p:nvPr/>
        </p:nvSpPr>
        <p:spPr>
          <a:xfrm>
            <a:off x="6324448" y="4663440"/>
            <a:ext cx="5227168" cy="1417320"/>
          </a:xfrm>
          <a:prstGeom prst="roundRect">
            <a:avLst>
              <a:gd name="adj" fmla="val 4516"/>
            </a:avLst>
          </a:prstGeom>
          <a:noFill/>
          <a:ln>
            <a:solidFill>
              <a:schemeClr val="tx1"/>
            </a:solidFill>
          </a:ln>
        </p:spPr>
      </p:sp>
      <p:sp>
        <p:nvSpPr>
          <p:cNvPr id="30" name="Shape 23"/>
          <p:cNvSpPr/>
          <p:nvPr/>
        </p:nvSpPr>
        <p:spPr>
          <a:xfrm>
            <a:off x="6553048" y="500634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icons/pdf_teal.png"/>
          <p:cNvPicPr>
            <a:picLocks noChangeAspect="1"/>
          </p:cNvPicPr>
          <p:nvPr/>
        </p:nvPicPr>
        <p:blipFill>
          <a:blip r:embed="rId8">
            <a:biLevel thresh="75000"/>
          </a:blip>
          <a:stretch>
            <a:fillRect/>
          </a:stretch>
        </p:blipFill>
        <p:spPr>
          <a:xfrm>
            <a:off x="6717640" y="5170932"/>
            <a:ext cx="402336" cy="40233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467448" y="4828032"/>
            <a:ext cx="385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Automated Clinical Reporting</a:t>
            </a:r>
            <a:endParaRPr lang="en-US" sz="1350" dirty="0">
              <a:latin typeface="Arial" panose="020B0604020202020204" pitchFamily="34" charset="0"/>
            </a:endParaRPr>
          </a:p>
        </p:txBody>
      </p:sp>
      <p:sp>
        <p:nvSpPr>
          <p:cNvPr id="33" name="Text 25"/>
          <p:cNvSpPr/>
          <p:nvPr/>
        </p:nvSpPr>
        <p:spPr>
          <a:xfrm>
            <a:off x="7467448" y="5166360"/>
            <a:ext cx="385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Peak movement data and model confidence ratings are packaged into formal PDF incident summary files.</a:t>
            </a:r>
            <a:endParaRPr lang="en-US" sz="1080" dirty="0">
              <a:latin typeface="Arial" panose="020B0604020202020204" pitchFamily="34" charset="0"/>
            </a:endParaRPr>
          </a:p>
        </p:txBody>
      </p:sp>
      <p:sp>
        <p:nvSpPr>
          <p:cNvPr id="34" name="Text 26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July 13, 2026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35" name="Text 27"/>
          <p:cNvSpPr/>
          <p:nvPr/>
        </p:nvSpPr>
        <p:spPr>
          <a:xfrm>
            <a:off x="3809848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Scope of Project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36" name="Text 28"/>
          <p:cNvSpPr/>
          <p:nvPr/>
        </p:nvSpPr>
        <p:spPr>
          <a:xfrm>
            <a:off x="1100297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AE5B590C-465B-4EDA-A6CE-CF945A811B16}" type="slidenum"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7</a:t>
            </a:fld>
            <a:endParaRPr lang="en-US" sz="95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APPLICATIONS</a:t>
            </a:r>
            <a:endParaRPr lang="en-US" sz="1300" dirty="0">
              <a:latin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Where SPARK Can Be Used</a:t>
            </a:r>
            <a:endParaRPr lang="en-US" sz="3600" dirty="0">
              <a:latin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332378" cy="2331720"/>
          </a:xfrm>
          <a:prstGeom prst="roundRect">
            <a:avLst>
              <a:gd name="adj" fmla="val 3137"/>
            </a:avLst>
          </a:prstGeom>
          <a:noFill/>
          <a:ln>
            <a:solidFill>
              <a:schemeClr val="tx1"/>
            </a:solidFill>
          </a:ln>
          <a:effectLst>
            <a:outerShdw blurRad="63500" dist="1905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40509" y="1737360"/>
            <a:ext cx="731520" cy="7315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</p:sp>
      <p:pic>
        <p:nvPicPr>
          <p:cNvPr id="6" name="Image 0" descr="icons/handshelp_teal.png"/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2105101" y="190195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56032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Assistive Technology</a:t>
            </a:r>
            <a:endParaRPr lang="en-US" sz="1300" dirty="0">
              <a:latin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68680" y="2926080"/>
            <a:ext cx="28751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3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Real-time, hands-free fall monitoring to increase independence and safety for those living alone.</a:t>
            </a:r>
            <a:endParaRPr lang="en-US" sz="1030" dirty="0">
              <a:latin typeface="Arial" panose="020B06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429658" y="1508760"/>
            <a:ext cx="3332378" cy="2331720"/>
          </a:xfrm>
          <a:prstGeom prst="roundRect">
            <a:avLst>
              <a:gd name="adj" fmla="val 3137"/>
            </a:avLst>
          </a:prstGeom>
          <a:noFill/>
          <a:ln>
            <a:solidFill>
              <a:schemeClr val="tx1"/>
            </a:solidFill>
          </a:ln>
          <a:effectLst>
            <a:outerShdw blurRad="63500" dist="1905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30088" y="1737360"/>
            <a:ext cx="731520" cy="7315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</p:sp>
      <p:pic>
        <p:nvPicPr>
          <p:cNvPr id="11" name="Image 1" descr="icons/hospital_teal.png"/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5894680" y="190195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2538" y="256032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Medical &amp; Rehabilitation</a:t>
            </a:r>
            <a:endParaRPr lang="en-US" sz="1300" dirty="0">
              <a:latin typeface="Arial" panose="020B0604020202020204" pitchFamily="3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658258" y="2926080"/>
            <a:ext cx="28751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3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Assists clinicians in tracking recovery progress and movement patterns post-injury or post-stroke.</a:t>
            </a:r>
            <a:endParaRPr lang="en-US" sz="1030" dirty="0">
              <a:latin typeface="Arial" panose="020B0604020202020204" pitchFamily="34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8219237" y="1508760"/>
            <a:ext cx="3332378" cy="2331720"/>
          </a:xfrm>
          <a:prstGeom prst="roundRect">
            <a:avLst>
              <a:gd name="adj" fmla="val 3137"/>
            </a:avLst>
          </a:prstGeom>
          <a:noFill/>
          <a:ln>
            <a:solidFill>
              <a:schemeClr val="tx1"/>
            </a:solidFill>
          </a:ln>
          <a:effectLst>
            <a:outerShdw blurRad="63500" dist="1905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519666" y="1737360"/>
            <a:ext cx="731520" cy="7315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</p:sp>
      <p:pic>
        <p:nvPicPr>
          <p:cNvPr id="16" name="Image 2" descr="icons/home_teal.png"/>
          <p:cNvPicPr>
            <a:picLocks noChangeAspect="1"/>
          </p:cNvPicPr>
          <p:nvPr/>
        </p:nvPicPr>
        <p:blipFill>
          <a:blip r:embed="rId5">
            <a:biLevel thresh="75000"/>
          </a:blip>
          <a:stretch>
            <a:fillRect/>
          </a:stretch>
        </p:blipFill>
        <p:spPr>
          <a:xfrm>
            <a:off x="9684258" y="190195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02117" y="256032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Elderly Care Facilities</a:t>
            </a:r>
            <a:endParaRPr lang="en-US" sz="1300" dirty="0">
              <a:latin typeface="Arial" panose="020B0604020202020204" pitchFamily="34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8447837" y="2926080"/>
            <a:ext cx="28751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3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Optimizes institutional care, letting a small staff footprint respond instantly to high-priority alerts.</a:t>
            </a:r>
            <a:endParaRPr lang="en-US" sz="1030" dirty="0">
              <a:latin typeface="Arial" panose="020B0604020202020204" pitchFamily="34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640080" y="4069080"/>
            <a:ext cx="3332378" cy="2331720"/>
          </a:xfrm>
          <a:prstGeom prst="roundRect">
            <a:avLst>
              <a:gd name="adj" fmla="val 3137"/>
            </a:avLst>
          </a:prstGeom>
          <a:noFill/>
          <a:ln>
            <a:solidFill>
              <a:schemeClr val="tx1"/>
            </a:solidFill>
          </a:ln>
          <a:effectLst>
            <a:outerShdw blurRad="63500" dist="1905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940509" y="4297680"/>
            <a:ext cx="731520" cy="7315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</p:sp>
      <p:pic>
        <p:nvPicPr>
          <p:cNvPr id="21" name="Image 3" descr="icons/wifi_teal.png"/>
          <p:cNvPicPr>
            <a:picLocks noChangeAspect="1"/>
          </p:cNvPicPr>
          <p:nvPr/>
        </p:nvPicPr>
        <p:blipFill>
          <a:blip r:embed="rId6">
            <a:biLevel thresh="75000"/>
          </a:blip>
          <a:stretch>
            <a:fillRect/>
          </a:stretch>
        </p:blipFill>
        <p:spPr>
          <a:xfrm>
            <a:off x="2105101" y="4462272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" y="512064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Smart Home &amp; IoT</a:t>
            </a:r>
            <a:endParaRPr lang="en-US" sz="1300" dirty="0">
              <a:latin typeface="Arial" panose="020B0604020202020204" pitchFamily="34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868680" y="5486400"/>
            <a:ext cx="28751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3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Functions as a network-independent safety module interfacing with residential intranet hubs.</a:t>
            </a:r>
            <a:endParaRPr lang="en-US" sz="1030" dirty="0">
              <a:latin typeface="Arial" panose="020B0604020202020204" pitchFamily="34" charset="0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4429658" y="4069080"/>
            <a:ext cx="3332378" cy="2331720"/>
          </a:xfrm>
          <a:prstGeom prst="roundRect">
            <a:avLst>
              <a:gd name="adj" fmla="val 3137"/>
            </a:avLst>
          </a:prstGeom>
          <a:noFill/>
          <a:ln>
            <a:solidFill>
              <a:schemeClr val="tx1"/>
            </a:solidFill>
          </a:ln>
          <a:effectLst>
            <a:outerShdw blurRad="63500" dist="1905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730088" y="4297680"/>
            <a:ext cx="731520" cy="7315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</p:sp>
      <p:pic>
        <p:nvPicPr>
          <p:cNvPr id="26" name="Image 4" descr="icons/clipboard_teal.png"/>
          <p:cNvPicPr>
            <a:picLocks noChangeAspect="1"/>
          </p:cNvPicPr>
          <p:nvPr/>
        </p:nvPicPr>
        <p:blipFill>
          <a:blip r:embed="rId7">
            <a:biLevel thresh="75000"/>
          </a:blip>
          <a:stretch>
            <a:fillRect/>
          </a:stretch>
        </p:blipFill>
        <p:spPr>
          <a:xfrm>
            <a:off x="5894680" y="4462272"/>
            <a:ext cx="402336" cy="40233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12538" y="512064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Clinical Documentation</a:t>
            </a:r>
            <a:endParaRPr lang="en-US" sz="1300" dirty="0">
              <a:latin typeface="Arial" panose="020B0604020202020204" pitchFamily="34" charset="0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4658258" y="5486400"/>
            <a:ext cx="28751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3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Automatically logs auditable incident data required for formal medical reports and compliance audits.</a:t>
            </a:r>
            <a:endParaRPr lang="en-US" sz="1030" dirty="0">
              <a:latin typeface="Arial" panose="020B0604020202020204" pitchFamily="34" charset="0"/>
            </a:endParaRPr>
          </a:p>
        </p:txBody>
      </p:sp>
      <p:sp>
        <p:nvSpPr>
          <p:cNvPr id="29" name="Shape 22"/>
          <p:cNvSpPr/>
          <p:nvPr/>
        </p:nvSpPr>
        <p:spPr>
          <a:xfrm>
            <a:off x="8219237" y="4069080"/>
            <a:ext cx="3332378" cy="2331720"/>
          </a:xfrm>
          <a:prstGeom prst="roundRect">
            <a:avLst>
              <a:gd name="adj" fmla="val 3137"/>
            </a:avLst>
          </a:prstGeom>
          <a:noFill/>
          <a:ln>
            <a:solidFill>
              <a:schemeClr val="tx1"/>
            </a:solidFill>
          </a:ln>
          <a:effectLst>
            <a:outerShdw blurRad="63500" dist="1905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9519666" y="4297680"/>
            <a:ext cx="731520" cy="7315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</p:sp>
      <p:pic>
        <p:nvPicPr>
          <p:cNvPr id="31" name="Image 5" descr="icons/flask_teal.png"/>
          <p:cNvPicPr>
            <a:picLocks noChangeAspect="1"/>
          </p:cNvPicPr>
          <p:nvPr/>
        </p:nvPicPr>
        <p:blipFill>
          <a:blip r:embed="rId8">
            <a:biLevel thresh="75000"/>
          </a:blip>
          <a:stretch>
            <a:fillRect/>
          </a:stretch>
        </p:blipFill>
        <p:spPr>
          <a:xfrm>
            <a:off x="9684258" y="4462272"/>
            <a:ext cx="402336" cy="40233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02117" y="512064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Research &amp; Development</a:t>
            </a:r>
            <a:endParaRPr lang="en-US" sz="1300" dirty="0">
              <a:latin typeface="Arial" panose="020B0604020202020204" pitchFamily="34" charset="0"/>
            </a:endParaRPr>
          </a:p>
        </p:txBody>
      </p:sp>
      <p:sp>
        <p:nvSpPr>
          <p:cNvPr id="33" name="Text 25"/>
          <p:cNvSpPr/>
          <p:nvPr/>
        </p:nvSpPr>
        <p:spPr>
          <a:xfrm>
            <a:off x="8447837" y="5486400"/>
            <a:ext cx="28751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3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An open-hardware reference design providing a localized South Asian regional IMU motion dataset.</a:t>
            </a:r>
            <a:endParaRPr lang="en-US" sz="1030" dirty="0">
              <a:latin typeface="Arial" panose="020B0604020202020204" pitchFamily="34" charset="0"/>
            </a:endParaRPr>
          </a:p>
        </p:txBody>
      </p:sp>
      <p:sp>
        <p:nvSpPr>
          <p:cNvPr id="34" name="Text 26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July 13, 2026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35" name="Text 27"/>
          <p:cNvSpPr/>
          <p:nvPr/>
        </p:nvSpPr>
        <p:spPr>
          <a:xfrm>
            <a:off x="3809848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Project Applications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36" name="Text 28"/>
          <p:cNvSpPr/>
          <p:nvPr/>
        </p:nvSpPr>
        <p:spPr>
          <a:xfrm>
            <a:off x="1100297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C09C92A8-587E-4FD2-9A0A-45FF12D1A97C}" type="slidenum"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8</a:t>
            </a:fld>
            <a:endParaRPr lang="en-US" sz="95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METHODOLOGY · 1</a:t>
            </a:r>
            <a:endParaRPr lang="en-US" sz="1300" dirty="0">
              <a:latin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System Block Diagram</a:t>
            </a:r>
            <a:endParaRPr lang="en-US" sz="3600" dirty="0">
              <a:latin typeface="Arial" panose="020B0604020202020204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Two physical subsystems — a battery-powered wearable node and a laptop gateway — connected over a local WiFi network. On a confirmed fall, the wearable node publishes a JSON event over MQTT; the gateway ingests, logs, explains, alerts, and reports.</a:t>
            </a:r>
            <a:endParaRPr lang="en-US" sz="1050" dirty="0">
              <a:latin typeface="Arial" panose="020B0604020202020204" pitchFamily="34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July 13, 2026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3809848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Methodology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1100297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FA6B6A1F-BC2E-464D-BF12-CE81A564425C}" type="slidenum"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9</a:t>
            </a:fld>
            <a:endParaRPr lang="en-US" sz="950" dirty="0">
              <a:latin typeface="Arial" panose="020B0604020202020204" pitchFamily="34" charset="0"/>
            </a:endParaRP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494061D7-C032-4554-BD5E-F9402E988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5800" y="1236435"/>
            <a:ext cx="6640094" cy="43851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A00708E-6A2E-46C5-9890-6DDA2D415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19642"/>
            <a:ext cx="10325100" cy="6818715"/>
          </a:xfrm>
          <a:prstGeom prst="rect">
            <a:avLst/>
          </a:prstGeom>
        </p:spPr>
      </p:pic>
      <p:sp>
        <p:nvSpPr>
          <p:cNvPr id="3" name="Text 3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July 13, 2026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4" name="Text 4"/>
          <p:cNvSpPr/>
          <p:nvPr/>
        </p:nvSpPr>
        <p:spPr>
          <a:xfrm>
            <a:off x="1100297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E1E5D9CD-EB32-465D-9840-A92596AA4E53}" type="slidenum"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10</a:t>
            </a:fld>
            <a:endParaRPr lang="en-US" sz="95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09694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4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July 13, 2026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5" name="Text 5"/>
          <p:cNvSpPr/>
          <p:nvPr/>
        </p:nvSpPr>
        <p:spPr>
          <a:xfrm>
            <a:off x="1100297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35085249-166D-4ED3-B1BF-74EF8A5BEA6C}" type="slidenum"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11</a:t>
            </a:fld>
            <a:endParaRPr lang="en-US" sz="950" dirty="0"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E21193-F614-42B6-AEFA-54F9D75BB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339" y="0"/>
            <a:ext cx="74693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1121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METHODOLOGY · 2</a:t>
            </a:r>
            <a:endParaRPr lang="en-US" sz="1300" dirty="0">
              <a:latin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Working Principle</a:t>
            </a:r>
            <a:endParaRPr lang="en-US" sz="3600" dirty="0">
              <a:latin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>
              <a:latin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2304288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>
              <a:latin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3191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>
              <a:latin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325880" y="3986784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>
              <a:latin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325880" y="4828032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>
              <a:latin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July 13, 2026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809848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Methodology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00297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2DF5F835-3094-46AC-805E-0391FEAFF466}" type="slidenum"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12</a:t>
            </a:fld>
            <a:endParaRPr lang="en-US" sz="950" dirty="0">
              <a:latin typeface="Arial" panose="020B0604020202020204" pitchFamily="34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165B62B-68BE-4BD0-9946-72E186EE1B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1537" y="0"/>
            <a:ext cx="4248926" cy="678656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88B6CB3-FF3B-4240-BAEF-0C2EAEBA33AC}"/>
              </a:ext>
            </a:extLst>
          </p:cNvPr>
          <p:cNvSpPr txBox="1"/>
          <p:nvPr/>
        </p:nvSpPr>
        <p:spPr>
          <a:xfrm>
            <a:off x="5079499" y="47726"/>
            <a:ext cx="206795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/>
              <a:t>(Standard profile)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METHODOLOGY · 3</a:t>
            </a:r>
            <a:endParaRPr lang="en-US" sz="1300" dirty="0">
              <a:latin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Operational Workflow</a:t>
            </a:r>
            <a:endParaRPr lang="en-US" sz="3600" dirty="0">
              <a:latin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911535" cy="841248"/>
          </a:xfrm>
          <a:prstGeom prst="roundRect">
            <a:avLst>
              <a:gd name="adj" fmla="val 6522"/>
            </a:avLst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63040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Preprocessing &amp; Filtering</a:t>
            </a:r>
            <a:endParaRPr lang="en-US" sz="1300" dirty="0">
              <a:latin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840480" y="1463040"/>
            <a:ext cx="74825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Raw IMU sampled at 100 Hz over I²C; complementary filter (α = 0.98) fuses accelerometer and gyroscope readings.</a:t>
            </a:r>
            <a:endParaRPr lang="en-US" sz="1130" dirty="0">
              <a:latin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2432304"/>
            <a:ext cx="10911535" cy="841248"/>
          </a:xfrm>
          <a:prstGeom prst="roundRect">
            <a:avLst>
              <a:gd name="adj" fmla="val 6522"/>
            </a:avLst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432304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Noise / Artifact Handling</a:t>
            </a:r>
            <a:endParaRPr lang="en-US" sz="1300" dirty="0">
              <a:latin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840480" y="2432304"/>
            <a:ext cx="74825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DLPF cutoff at 20 Hz on the accelerometer; filtered stream stored in a 200-sample circular sliding-window buffer.</a:t>
            </a:r>
            <a:endParaRPr lang="en-US" sz="1130" dirty="0">
              <a:latin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3401568"/>
            <a:ext cx="10911535" cy="841248"/>
          </a:xfrm>
          <a:prstGeom prst="roundRect">
            <a:avLst>
              <a:gd name="adj" fmla="val 6522"/>
            </a:avLst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401568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Feature Extraction</a:t>
            </a:r>
            <a:endParaRPr lang="en-US" sz="1300" dirty="0">
              <a:latin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840480" y="3401568"/>
            <a:ext cx="74825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Layer 1 computes resultant acceleration |a| and angular velocity |ω|; the latched window is normalized with firmware-baked StandardScaler parameters.</a:t>
            </a:r>
            <a:endParaRPr lang="en-US" sz="1130" dirty="0">
              <a:latin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0080" y="4370832"/>
            <a:ext cx="10911535" cy="841248"/>
          </a:xfrm>
          <a:prstGeom prst="roundRect">
            <a:avLst>
              <a:gd name="adj" fmla="val 6522"/>
            </a:avLst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370832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Classification / Decision</a:t>
            </a:r>
            <a:endParaRPr lang="en-US" sz="1300" dirty="0">
              <a:latin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840480" y="4370832"/>
            <a:ext cx="74825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Layer 1 threshold gates Layer 2 TFLite Micro 1D CNN inference, producing P(FALL); a CONFIRMED_FALL is raised when P(FALL) &gt; 0.85 (Standard profile).</a:t>
            </a:r>
            <a:endParaRPr lang="en-US" sz="1130" dirty="0">
              <a:latin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5340096"/>
            <a:ext cx="10911535" cy="841248"/>
          </a:xfrm>
          <a:prstGeom prst="roundRect">
            <a:avLst>
              <a:gd name="adj" fmla="val 6522"/>
            </a:avLst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340096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Aggregation &amp; Output</a:t>
            </a:r>
            <a:endParaRPr lang="en-US" sz="1300" dirty="0">
              <a:latin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840480" y="5340096"/>
            <a:ext cx="74825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The confirmed event is serialized as JSON over MQTT; the gateway logs it, computes SHAP attribution, dispatches alerts, and generates a PDF report.</a:t>
            </a:r>
            <a:endParaRPr lang="en-US" sz="1130" dirty="0">
              <a:latin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July 13, 2026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809848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Methodology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00297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5BD1FFA6-3666-4E65-91AB-AFC2132D39E5}" type="slidenum"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13</a:t>
            </a:fld>
            <a:endParaRPr lang="en-US" sz="95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METHODOLOGY · 4</a:t>
            </a:r>
            <a:endParaRPr lang="en-US" sz="1300" dirty="0">
              <a:latin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Flow of the Proposed System</a:t>
            </a:r>
            <a:endParaRPr lang="en-US" sz="3600" dirty="0">
              <a:latin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Layer 1 — Threshold Pre-Filter</a:t>
            </a:r>
            <a:endParaRPr lang="en-US" sz="1150" dirty="0">
              <a:latin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2075688"/>
            <a:ext cx="6949440" cy="502920"/>
          </a:xfrm>
          <a:prstGeom prst="roundRect">
            <a:avLst>
              <a:gd name="adj" fmla="val 10909"/>
            </a:avLst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078972"/>
            <a:ext cx="6729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ISR fires at 100 Hz — read ax, ay, az, ωx, ωy, ωz</a:t>
            </a:r>
            <a:endParaRPr lang="en-US" sz="1050" dirty="0">
              <a:latin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005072" y="2554793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</a:rPr>
              <a:t>↓</a:t>
            </a:r>
          </a:p>
        </p:txBody>
      </p:sp>
      <p:sp>
        <p:nvSpPr>
          <p:cNvPr id="8" name="Shape 6"/>
          <p:cNvSpPr/>
          <p:nvPr/>
        </p:nvSpPr>
        <p:spPr>
          <a:xfrm>
            <a:off x="640080" y="2798064"/>
            <a:ext cx="6949440" cy="502920"/>
          </a:xfrm>
          <a:prstGeom prst="roundRect">
            <a:avLst>
              <a:gd name="adj" fmla="val 10909"/>
            </a:avLst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801348"/>
            <a:ext cx="6729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Compute |a| = √(ax²+ay²+az²) and |ω|</a:t>
            </a:r>
            <a:endParaRPr lang="en-US" sz="1050" dirty="0">
              <a:latin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005072" y="3277169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</a:rPr>
              <a:t>↓</a:t>
            </a:r>
          </a:p>
        </p:txBody>
      </p:sp>
      <p:sp>
        <p:nvSpPr>
          <p:cNvPr id="11" name="Shape 9"/>
          <p:cNvSpPr/>
          <p:nvPr/>
        </p:nvSpPr>
        <p:spPr>
          <a:xfrm>
            <a:off x="640080" y="3520440"/>
            <a:ext cx="6949440" cy="502920"/>
          </a:xfrm>
          <a:prstGeom prst="roundRect">
            <a:avLst>
              <a:gd name="adj" fmla="val 10909"/>
            </a:avLst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523724"/>
            <a:ext cx="6729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|a| &gt; spike threshold?  → if No, discard</a:t>
            </a:r>
            <a:endParaRPr lang="en-US" sz="1050" dirty="0">
              <a:latin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005072" y="3999545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</a:rPr>
              <a:t>↓</a:t>
            </a:r>
          </a:p>
        </p:txBody>
      </p:sp>
      <p:sp>
        <p:nvSpPr>
          <p:cNvPr id="14" name="Shape 12"/>
          <p:cNvSpPr/>
          <p:nvPr/>
        </p:nvSpPr>
        <p:spPr>
          <a:xfrm>
            <a:off x="640080" y="4242816"/>
            <a:ext cx="6949440" cy="502920"/>
          </a:xfrm>
          <a:prstGeom prst="roundRect">
            <a:avLst>
              <a:gd name="adj" fmla="val 10909"/>
            </a:avLst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4246100"/>
            <a:ext cx="6729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|a| &lt; rest threshold for rest duration?  → if Yes, raise PRE_FALL</a:t>
            </a:r>
            <a:endParaRPr lang="en-US" sz="1050" dirty="0">
              <a:latin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005072" y="4721921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</a:rPr>
              <a:t>↓</a:t>
            </a:r>
          </a:p>
        </p:txBody>
      </p:sp>
      <p:sp>
        <p:nvSpPr>
          <p:cNvPr id="17" name="Shape 15"/>
          <p:cNvSpPr/>
          <p:nvPr/>
        </p:nvSpPr>
        <p:spPr>
          <a:xfrm>
            <a:off x="640080" y="4965192"/>
            <a:ext cx="6949440" cy="502920"/>
          </a:xfrm>
          <a:prstGeom prst="roundRect">
            <a:avLst>
              <a:gd name="adj" fmla="val 10909"/>
            </a:avLst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4968476"/>
            <a:ext cx="6729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Copy &amp; normalise buffer (200×6 → INT8, StandardScaler baked in)</a:t>
            </a:r>
            <a:endParaRPr lang="en-US" sz="1050" dirty="0">
              <a:latin typeface="Arial" panose="020B0604020202020204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88BF890-7F72-41E9-9007-A562CE6EE38A}"/>
              </a:ext>
            </a:extLst>
          </p:cNvPr>
          <p:cNvGrpSpPr/>
          <p:nvPr/>
        </p:nvGrpSpPr>
        <p:grpSpPr>
          <a:xfrm>
            <a:off x="7955280" y="1143000"/>
            <a:ext cx="3596335" cy="4617720"/>
            <a:chOff x="7955280" y="1143000"/>
            <a:chExt cx="3596335" cy="4617720"/>
          </a:xfrm>
        </p:grpSpPr>
        <p:sp>
          <p:nvSpPr>
            <p:cNvPr id="28" name="Shape 26"/>
            <p:cNvSpPr/>
            <p:nvPr/>
          </p:nvSpPr>
          <p:spPr>
            <a:xfrm>
              <a:off x="7955280" y="1143000"/>
              <a:ext cx="3596335" cy="4617720"/>
            </a:xfrm>
            <a:prstGeom prst="roundRect">
              <a:avLst>
                <a:gd name="adj" fmla="val 2034"/>
              </a:avLst>
            </a:prstGeom>
            <a:noFill/>
            <a:ln>
              <a:solidFill>
                <a:schemeClr val="tx1"/>
              </a:solidFill>
            </a:ln>
          </p:spPr>
        </p:sp>
        <p:sp>
          <p:nvSpPr>
            <p:cNvPr id="29" name="Text 27"/>
            <p:cNvSpPr/>
            <p:nvPr/>
          </p:nvSpPr>
          <p:spPr>
            <a:xfrm>
              <a:off x="8138160" y="1325880"/>
              <a:ext cx="3230575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Sensitivity Profiles</a:t>
              </a:r>
              <a:endParaRPr lang="en-US" sz="1300" dirty="0">
                <a:latin typeface="Arial" panose="020B0604020202020204" pitchFamily="34" charset="0"/>
              </a:endParaRPr>
            </a:p>
          </p:txBody>
        </p:sp>
        <p:sp>
          <p:nvSpPr>
            <p:cNvPr id="30" name="Text 28"/>
            <p:cNvSpPr/>
            <p:nvPr/>
          </p:nvSpPr>
          <p:spPr>
            <a:xfrm>
              <a:off x="8138160" y="1783080"/>
              <a:ext cx="3230575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High Sensitivity</a:t>
              </a:r>
              <a:endParaRPr lang="en-US" sz="1200" dirty="0">
                <a:latin typeface="Arial" panose="020B0604020202020204" pitchFamily="34" charset="0"/>
              </a:endParaRPr>
            </a:p>
          </p:txBody>
        </p:sp>
        <p:sp>
          <p:nvSpPr>
            <p:cNvPr id="31" name="Text 29"/>
            <p:cNvSpPr/>
            <p:nvPr/>
          </p:nvSpPr>
          <p:spPr>
            <a:xfrm>
              <a:off x="8138160" y="2075688"/>
              <a:ext cx="3230575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|a| &gt; 2.0 g, 200 ms rest</a:t>
              </a:r>
              <a:endParaRPr lang="en-US" sz="1000" dirty="0">
                <a:latin typeface="Arial" panose="020B0604020202020204" pitchFamily="34" charset="0"/>
              </a:endParaRPr>
            </a:p>
          </p:txBody>
        </p:sp>
        <p:sp>
          <p:nvSpPr>
            <p:cNvPr id="32" name="Text 30"/>
            <p:cNvSpPr/>
            <p:nvPr/>
          </p:nvSpPr>
          <p:spPr>
            <a:xfrm>
              <a:off x="8138160" y="2331720"/>
              <a:ext cx="3230575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P(FALL) &gt; 0.75</a:t>
              </a:r>
              <a:endParaRPr lang="en-US" sz="1000" dirty="0">
                <a:latin typeface="Arial" panose="020B0604020202020204" pitchFamily="34" charset="0"/>
              </a:endParaRPr>
            </a:p>
          </p:txBody>
        </p:sp>
        <p:sp>
          <p:nvSpPr>
            <p:cNvPr id="33" name="Text 31"/>
            <p:cNvSpPr/>
            <p:nvPr/>
          </p:nvSpPr>
          <p:spPr>
            <a:xfrm>
              <a:off x="8138160" y="2834640"/>
              <a:ext cx="3230575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Standard (default)</a:t>
              </a:r>
              <a:endParaRPr lang="en-US" sz="1200" dirty="0">
                <a:latin typeface="Arial" panose="020B0604020202020204" pitchFamily="34" charset="0"/>
              </a:endParaRPr>
            </a:p>
          </p:txBody>
        </p:sp>
        <p:sp>
          <p:nvSpPr>
            <p:cNvPr id="34" name="Text 32"/>
            <p:cNvSpPr/>
            <p:nvPr/>
          </p:nvSpPr>
          <p:spPr>
            <a:xfrm>
              <a:off x="8138160" y="3127248"/>
              <a:ext cx="3230575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|a| &gt; 2.5 g, 300 ms rest</a:t>
              </a:r>
              <a:endParaRPr lang="en-US" sz="1000" dirty="0">
                <a:latin typeface="Arial" panose="020B0604020202020204" pitchFamily="34" charset="0"/>
              </a:endParaRPr>
            </a:p>
          </p:txBody>
        </p:sp>
        <p:sp>
          <p:nvSpPr>
            <p:cNvPr id="35" name="Text 33"/>
            <p:cNvSpPr/>
            <p:nvPr/>
          </p:nvSpPr>
          <p:spPr>
            <a:xfrm>
              <a:off x="8138160" y="3383280"/>
              <a:ext cx="3230575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P(FALL) &gt; 0.85</a:t>
              </a:r>
              <a:endParaRPr lang="en-US" sz="1000" dirty="0">
                <a:latin typeface="Arial" panose="020B0604020202020204" pitchFamily="34" charset="0"/>
              </a:endParaRPr>
            </a:p>
          </p:txBody>
        </p:sp>
        <p:sp>
          <p:nvSpPr>
            <p:cNvPr id="36" name="Text 34"/>
            <p:cNvSpPr/>
            <p:nvPr/>
          </p:nvSpPr>
          <p:spPr>
            <a:xfrm>
              <a:off x="8138160" y="3886200"/>
              <a:ext cx="3230575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Sport Mode</a:t>
              </a:r>
              <a:endParaRPr lang="en-US" sz="1200" dirty="0">
                <a:latin typeface="Arial" panose="020B0604020202020204" pitchFamily="34" charset="0"/>
              </a:endParaRPr>
            </a:p>
          </p:txBody>
        </p:sp>
        <p:sp>
          <p:nvSpPr>
            <p:cNvPr id="37" name="Text 35"/>
            <p:cNvSpPr/>
            <p:nvPr/>
          </p:nvSpPr>
          <p:spPr>
            <a:xfrm>
              <a:off x="8138160" y="4178808"/>
              <a:ext cx="3230575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|a| &gt; 3.0 g, 400 ms rest</a:t>
              </a:r>
              <a:endParaRPr lang="en-US" sz="1000" dirty="0">
                <a:latin typeface="Arial" panose="020B0604020202020204" pitchFamily="34" charset="0"/>
              </a:endParaRPr>
            </a:p>
          </p:txBody>
        </p:sp>
        <p:sp>
          <p:nvSpPr>
            <p:cNvPr id="38" name="Text 36"/>
            <p:cNvSpPr/>
            <p:nvPr/>
          </p:nvSpPr>
          <p:spPr>
            <a:xfrm>
              <a:off x="8138160" y="4434840"/>
              <a:ext cx="3230575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P(FALL) &gt; 0.90</a:t>
              </a:r>
              <a:endParaRPr lang="en-US" sz="1000" dirty="0">
                <a:latin typeface="Arial" panose="020B0604020202020204" pitchFamily="34" charset="0"/>
              </a:endParaRPr>
            </a:p>
          </p:txBody>
        </p:sp>
        <p:sp>
          <p:nvSpPr>
            <p:cNvPr id="39" name="Text 37"/>
            <p:cNvSpPr/>
            <p:nvPr/>
          </p:nvSpPr>
          <p:spPr>
            <a:xfrm>
              <a:off x="8138160" y="5029200"/>
              <a:ext cx="3230575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i="1" dirty="0"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Switching profiles requires no firmware reflash — the gateway publishes new parameters to the ESP32 via MQTT.</a:t>
              </a:r>
              <a:endParaRPr lang="en-US" sz="950" dirty="0">
                <a:latin typeface="Arial" panose="020B0604020202020204" pitchFamily="34" charset="0"/>
              </a:endParaRPr>
            </a:p>
          </p:txBody>
        </p:sp>
      </p:grpSp>
      <p:sp>
        <p:nvSpPr>
          <p:cNvPr id="40" name="Text 38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July 13, 2026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3809848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Methodology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1100297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AEC5EA8C-E522-44A7-8E2E-F80193748CEC}" type="slidenum"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14</a:t>
            </a:fld>
            <a:endParaRPr lang="en-US" sz="95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METHODOLOGY · 4</a:t>
            </a:r>
            <a:endParaRPr lang="en-US" sz="1300" dirty="0">
              <a:latin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Flow of the Proposed System</a:t>
            </a:r>
            <a:endParaRPr lang="en-US" sz="3600" dirty="0">
              <a:latin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0080" y="950976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Layer 2 — TFLite Micro CNN Inference</a:t>
            </a:r>
            <a:endParaRPr lang="en-US" sz="1150" dirty="0">
              <a:latin typeface="Arial" panose="020B0604020202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FAAA02B-51A3-4DFE-B3B2-607172AC808E}"/>
              </a:ext>
            </a:extLst>
          </p:cNvPr>
          <p:cNvGrpSpPr/>
          <p:nvPr/>
        </p:nvGrpSpPr>
        <p:grpSpPr>
          <a:xfrm>
            <a:off x="640080" y="2208276"/>
            <a:ext cx="6949440" cy="1913570"/>
            <a:chOff x="640080" y="2583180"/>
            <a:chExt cx="6949440" cy="1913570"/>
          </a:xfrm>
        </p:grpSpPr>
        <p:sp>
          <p:nvSpPr>
            <p:cNvPr id="20" name="Shape 18"/>
            <p:cNvSpPr/>
            <p:nvPr/>
          </p:nvSpPr>
          <p:spPr>
            <a:xfrm>
              <a:off x="640080" y="2583180"/>
              <a:ext cx="10911535" cy="502920"/>
            </a:xfrm>
            <a:prstGeom prst="roundRect">
              <a:avLst>
                <a:gd name="adj" fmla="val 10909"/>
              </a:avLst>
            </a:prstGeom>
            <a:noFill/>
            <a:ln w="12700">
              <a:solidFill>
                <a:schemeClr val="tx1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749808" y="2585654"/>
              <a:ext cx="10692079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TFLite Micro 1D CNN inference — outputs P(FALL) ∈ [0,1]</a:t>
              </a:r>
              <a:endParaRPr lang="en-US" sz="1050" dirty="0">
                <a:latin typeface="Arial" panose="020B0604020202020204" pitchFamily="34" charset="0"/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5995263" y="3062285"/>
              <a:ext cx="20116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latin typeface="Arial" panose="020B0604020202020204" pitchFamily="34" charset="0"/>
                </a:rPr>
                <a:t>↓</a:t>
              </a:r>
            </a:p>
          </p:txBody>
        </p:sp>
        <p:sp>
          <p:nvSpPr>
            <p:cNvPr id="23" name="Shape 21"/>
            <p:cNvSpPr/>
            <p:nvPr/>
          </p:nvSpPr>
          <p:spPr>
            <a:xfrm>
              <a:off x="640080" y="3287268"/>
              <a:ext cx="10911535" cy="502920"/>
            </a:xfrm>
            <a:prstGeom prst="roundRect">
              <a:avLst>
                <a:gd name="adj" fmla="val 10909"/>
              </a:avLst>
            </a:prstGeom>
            <a:noFill/>
            <a:ln w="12700">
              <a:solidFill>
                <a:schemeClr val="tx1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749808" y="3289742"/>
              <a:ext cx="10692079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P(FALL) &gt; sensitivity-profile threshold?  → if No, discard</a:t>
              </a:r>
              <a:endParaRPr lang="en-US" sz="1050" dirty="0">
                <a:latin typeface="Arial" panose="020B0604020202020204" pitchFamily="34" charset="0"/>
              </a:endParaRPr>
            </a:p>
          </p:txBody>
        </p:sp>
        <p:sp>
          <p:nvSpPr>
            <p:cNvPr id="25" name="Text 23"/>
            <p:cNvSpPr/>
            <p:nvPr/>
          </p:nvSpPr>
          <p:spPr>
            <a:xfrm>
              <a:off x="5995263" y="3766373"/>
              <a:ext cx="20116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latin typeface="Arial" panose="020B0604020202020204" pitchFamily="34" charset="0"/>
                </a:rPr>
                <a:t>↓</a:t>
              </a:r>
            </a:p>
          </p:txBody>
        </p:sp>
        <p:sp>
          <p:nvSpPr>
            <p:cNvPr id="26" name="Shape 24"/>
            <p:cNvSpPr/>
            <p:nvPr/>
          </p:nvSpPr>
          <p:spPr>
            <a:xfrm>
              <a:off x="640080" y="3991356"/>
              <a:ext cx="10911535" cy="502920"/>
            </a:xfrm>
            <a:prstGeom prst="roundRect">
              <a:avLst>
                <a:gd name="adj" fmla="val 10909"/>
              </a:avLst>
            </a:prstGeom>
            <a:noFill/>
            <a:ln w="12700">
              <a:solidFill>
                <a:schemeClr val="tx1"/>
              </a:solidFill>
              <a:prstDash val="solid"/>
            </a:ln>
          </p:spPr>
        </p:sp>
        <p:sp>
          <p:nvSpPr>
            <p:cNvPr id="27" name="Text 25"/>
            <p:cNvSpPr/>
            <p:nvPr/>
          </p:nvSpPr>
          <p:spPr>
            <a:xfrm>
              <a:off x="749808" y="3993830"/>
              <a:ext cx="10692079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CONFIRMED_FALL — serialize JSON → MQTT publish</a:t>
              </a:r>
              <a:endParaRPr lang="en-US" sz="1050" dirty="0">
                <a:latin typeface="Arial" panose="020B0604020202020204" pitchFamily="34" charset="0"/>
              </a:endParaRPr>
            </a:p>
          </p:txBody>
        </p:sp>
      </p:grpSp>
      <p:sp>
        <p:nvSpPr>
          <p:cNvPr id="40" name="Text 38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July 13, 2026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3809848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Methodology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1100297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0FB38204-45D3-4B83-8188-4E44A1B84137}" type="slidenum"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15</a:t>
            </a:fld>
            <a:endParaRPr lang="en-US" sz="950" dirty="0">
              <a:latin typeface="Arial" panose="020B06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0233F45-82B6-4952-AAF8-906C1D6E8992}"/>
              </a:ext>
            </a:extLst>
          </p:cNvPr>
          <p:cNvGrpSpPr/>
          <p:nvPr/>
        </p:nvGrpSpPr>
        <p:grpSpPr>
          <a:xfrm>
            <a:off x="8058334" y="282875"/>
            <a:ext cx="3764554" cy="6163646"/>
            <a:chOff x="8058334" y="137159"/>
            <a:chExt cx="3764554" cy="6292253"/>
          </a:xfrm>
        </p:grpSpPr>
      </p:grpSp>
    </p:spTree>
    <p:extLst>
      <p:ext uri="{BB962C8B-B14F-4D97-AF65-F5344CB8AC3E}">
        <p14:creationId xmlns:p14="http://schemas.microsoft.com/office/powerpoint/2010/main" val="28125233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METHODOLOGY · 5</a:t>
            </a:r>
            <a:endParaRPr lang="en-US" sz="1300" dirty="0">
              <a:latin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Hardware Requirement</a:t>
            </a:r>
            <a:endParaRPr lang="en-US" sz="3600" dirty="0">
              <a:latin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490472"/>
            <a:ext cx="512064" cy="512064"/>
          </a:xfrm>
          <a:prstGeom prst="ellipse">
            <a:avLst/>
          </a:prstGeom>
          <a:noFill/>
          <a:ln>
            <a:noFill/>
          </a:ln>
        </p:spPr>
      </p:sp>
      <p:pic>
        <p:nvPicPr>
          <p:cNvPr id="5" name="Image 0" descr="icons/microchip_teal.png"/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755294" y="1605686"/>
            <a:ext cx="281635" cy="28163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 3"/>
          <p:cNvSpPr/>
          <p:nvPr/>
        </p:nvSpPr>
        <p:spPr>
          <a:xfrm>
            <a:off x="1298448" y="1435608"/>
            <a:ext cx="456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ESP32-S3</a:t>
            </a:r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298448" y="1737360"/>
            <a:ext cx="456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Dual-core Xtensa LX7, 8 MB PSRAM, WiFi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40080" y="2240280"/>
            <a:ext cx="512064" cy="512064"/>
          </a:xfrm>
          <a:prstGeom prst="ellipse">
            <a:avLst/>
          </a:prstGeom>
          <a:noFill/>
          <a:ln>
            <a:noFill/>
          </a:ln>
        </p:spPr>
      </p:sp>
      <p:pic>
        <p:nvPicPr>
          <p:cNvPr id="9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294" y="2355494"/>
            <a:ext cx="281635" cy="28163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 6"/>
          <p:cNvSpPr/>
          <p:nvPr/>
        </p:nvSpPr>
        <p:spPr>
          <a:xfrm>
            <a:off x="1298448" y="2185416"/>
            <a:ext cx="456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MPU6050 6-Axis IMU</a:t>
            </a:r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298448" y="2487168"/>
            <a:ext cx="456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Accelerometer + gyroscope, I²C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640080" y="2990088"/>
            <a:ext cx="512064" cy="512064"/>
          </a:xfrm>
          <a:prstGeom prst="ellipse">
            <a:avLst/>
          </a:prstGeom>
          <a:noFill/>
          <a:ln>
            <a:noFill/>
          </a:ln>
        </p:spPr>
      </p:sp>
      <p:pic>
        <p:nvPicPr>
          <p:cNvPr id="13" name="Image 2" descr="icons/server_teal.png"/>
          <p:cNvPicPr>
            <a:picLocks noChangeAspect="1"/>
          </p:cNvPicPr>
          <p:nvPr/>
        </p:nvPicPr>
        <p:blipFill>
          <a:blip r:embed="rId5">
            <a:biLevel thresh="75000"/>
          </a:blip>
          <a:stretch>
            <a:fillRect/>
          </a:stretch>
        </p:blipFill>
        <p:spPr>
          <a:xfrm>
            <a:off x="755294" y="3105302"/>
            <a:ext cx="281635" cy="28163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 9"/>
          <p:cNvSpPr/>
          <p:nvPr/>
        </p:nvSpPr>
        <p:spPr>
          <a:xfrm>
            <a:off x="1298448" y="2935224"/>
            <a:ext cx="456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Laptop (Gateway Host)</a:t>
            </a:r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1298448" y="3236976"/>
            <a:ext cx="456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Team-owned, NPR 0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640080" y="3739896"/>
            <a:ext cx="512064" cy="512064"/>
          </a:xfrm>
          <a:prstGeom prst="ellipse">
            <a:avLst/>
          </a:prstGeom>
          <a:noFill/>
          <a:ln>
            <a:noFill/>
          </a:ln>
        </p:spPr>
      </p:sp>
      <p:pic>
        <p:nvPicPr>
          <p:cNvPr id="17" name="Image 3" descr="icons/battery_teal.png"/>
          <p:cNvPicPr>
            <a:picLocks noChangeAspect="1"/>
          </p:cNvPicPr>
          <p:nvPr/>
        </p:nvPicPr>
        <p:blipFill>
          <a:blip r:embed="rId6">
            <a:biLevel thresh="75000"/>
          </a:blip>
          <a:stretch>
            <a:fillRect/>
          </a:stretch>
        </p:blipFill>
        <p:spPr>
          <a:xfrm>
            <a:off x="755294" y="3855110"/>
            <a:ext cx="281635" cy="28163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Text 12"/>
          <p:cNvSpPr/>
          <p:nvPr/>
        </p:nvSpPr>
        <p:spPr>
          <a:xfrm>
            <a:off x="1298448" y="3685032"/>
            <a:ext cx="456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18650 Li-ion Cell</a:t>
            </a:r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1298448" y="3986784"/>
            <a:ext cx="456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2000–3000 mAh wearable power source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640080" y="4489704"/>
            <a:ext cx="512064" cy="512064"/>
          </a:xfrm>
          <a:prstGeom prst="ellipse">
            <a:avLst/>
          </a:prstGeom>
          <a:noFill/>
          <a:ln>
            <a:noFill/>
          </a:ln>
        </p:spPr>
      </p:sp>
      <p:pic>
        <p:nvPicPr>
          <p:cNvPr id="21" name="Image 4" descr="icons/plug_teal.png"/>
          <p:cNvPicPr>
            <a:picLocks noChangeAspect="1"/>
          </p:cNvPicPr>
          <p:nvPr/>
        </p:nvPicPr>
        <p:blipFill>
          <a:blip r:embed="rId7">
            <a:biLevel thresh="75000"/>
          </a:blip>
          <a:stretch>
            <a:fillRect/>
          </a:stretch>
        </p:blipFill>
        <p:spPr>
          <a:xfrm>
            <a:off x="755294" y="4604918"/>
            <a:ext cx="281635" cy="28163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Text 15"/>
          <p:cNvSpPr/>
          <p:nvPr/>
        </p:nvSpPr>
        <p:spPr>
          <a:xfrm>
            <a:off x="1298448" y="4434840"/>
            <a:ext cx="456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TP4056 Charger Module</a:t>
            </a:r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1298448" y="4736592"/>
            <a:ext cx="456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USB-C, 1 A CC/CV charge controller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24" name="Shape 17"/>
          <p:cNvSpPr/>
          <p:nvPr/>
        </p:nvSpPr>
        <p:spPr>
          <a:xfrm>
            <a:off x="640080" y="5239512"/>
            <a:ext cx="512064" cy="512064"/>
          </a:xfrm>
          <a:prstGeom prst="ellipse">
            <a:avLst/>
          </a:prstGeom>
          <a:noFill/>
          <a:ln>
            <a:noFill/>
          </a:ln>
        </p:spPr>
      </p:sp>
      <p:pic>
        <p:nvPicPr>
          <p:cNvPr id="25" name="Image 5" descr="icons/bolt_teal.png"/>
          <p:cNvPicPr>
            <a:picLocks noChangeAspect="1"/>
          </p:cNvPicPr>
          <p:nvPr/>
        </p:nvPicPr>
        <p:blipFill>
          <a:blip r:embed="rId8">
            <a:biLevel thresh="75000"/>
          </a:blip>
          <a:stretch>
            <a:fillRect/>
          </a:stretch>
        </p:blipFill>
        <p:spPr>
          <a:xfrm>
            <a:off x="755294" y="5354726"/>
            <a:ext cx="281635" cy="28163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Text 18"/>
          <p:cNvSpPr/>
          <p:nvPr/>
        </p:nvSpPr>
        <p:spPr>
          <a:xfrm>
            <a:off x="1298448" y="5184648"/>
            <a:ext cx="456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AMS1117-3.3 LDO</a:t>
            </a:r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1298448" y="5486400"/>
            <a:ext cx="456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Regulates cell voltage to 3.3 V rail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6324448" y="1490472"/>
            <a:ext cx="512064" cy="512064"/>
          </a:xfrm>
          <a:prstGeom prst="ellipse">
            <a:avLst/>
          </a:prstGeom>
          <a:noFill/>
          <a:ln>
            <a:noFill/>
          </a:ln>
        </p:spPr>
      </p:sp>
      <p:pic>
        <p:nvPicPr>
          <p:cNvPr id="29" name="Image 6" descr="icons/chart_teal.png"/>
          <p:cNvPicPr>
            <a:picLocks noChangeAspect="1"/>
          </p:cNvPicPr>
          <p:nvPr/>
        </p:nvPicPr>
        <p:blipFill>
          <a:blip r:embed="rId9">
            <a:biLevel thresh="75000"/>
          </a:blip>
          <a:stretch>
            <a:fillRect/>
          </a:stretch>
        </p:blipFill>
        <p:spPr>
          <a:xfrm>
            <a:off x="6439662" y="1605686"/>
            <a:ext cx="281635" cy="281635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Text 21"/>
          <p:cNvSpPr/>
          <p:nvPr/>
        </p:nvSpPr>
        <p:spPr>
          <a:xfrm>
            <a:off x="6982816" y="1435608"/>
            <a:ext cx="456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INA219 Sensor</a:t>
            </a:r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31" name="Text 22"/>
          <p:cNvSpPr/>
          <p:nvPr/>
        </p:nvSpPr>
        <p:spPr>
          <a:xfrm>
            <a:off x="6982816" y="1737360"/>
            <a:ext cx="456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Current / voltage telemetry over I²C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32" name="Shape 23"/>
          <p:cNvSpPr/>
          <p:nvPr/>
        </p:nvSpPr>
        <p:spPr>
          <a:xfrm>
            <a:off x="6324448" y="2240280"/>
            <a:ext cx="512064" cy="512064"/>
          </a:xfrm>
          <a:prstGeom prst="ellipse">
            <a:avLst/>
          </a:prstGeom>
          <a:noFill/>
          <a:ln>
            <a:noFill/>
          </a:ln>
        </p:spPr>
      </p:sp>
      <p:pic>
        <p:nvPicPr>
          <p:cNvPr id="33" name="Image 7" descr="icons/clipboard_teal.png"/>
          <p:cNvPicPr>
            <a:picLocks noChangeAspect="1"/>
          </p:cNvPicPr>
          <p:nvPr/>
        </p:nvPicPr>
        <p:blipFill>
          <a:blip r:embed="rId10">
            <a:biLevel thresh="75000"/>
          </a:blip>
          <a:stretch>
            <a:fillRect/>
          </a:stretch>
        </p:blipFill>
        <p:spPr>
          <a:xfrm>
            <a:off x="6439662" y="2355494"/>
            <a:ext cx="281635" cy="281635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24"/>
          <p:cNvSpPr/>
          <p:nvPr/>
        </p:nvSpPr>
        <p:spPr>
          <a:xfrm>
            <a:off x="6982816" y="2185416"/>
            <a:ext cx="456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Velcro Wrist/Chest Strap + Mount</a:t>
            </a:r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35" name="Text 25"/>
          <p:cNvSpPr/>
          <p:nvPr/>
        </p:nvSpPr>
        <p:spPr>
          <a:xfrm>
            <a:off x="6982816" y="2487168"/>
            <a:ext cx="456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Secures the enclosure to wrist or chest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36" name="Shape 26"/>
          <p:cNvSpPr/>
          <p:nvPr/>
        </p:nvSpPr>
        <p:spPr>
          <a:xfrm>
            <a:off x="6324448" y="2990088"/>
            <a:ext cx="512064" cy="512064"/>
          </a:xfrm>
          <a:prstGeom prst="ellipse">
            <a:avLst/>
          </a:prstGeom>
          <a:noFill/>
          <a:ln>
            <a:noFill/>
          </a:ln>
        </p:spPr>
      </p:sp>
      <p:pic>
        <p:nvPicPr>
          <p:cNvPr id="37" name="Image 8" descr="icons/sdcard_teal.png"/>
          <p:cNvPicPr>
            <a:picLocks noChangeAspect="1"/>
          </p:cNvPicPr>
          <p:nvPr/>
        </p:nvPicPr>
        <p:blipFill>
          <a:blip r:embed="rId11">
            <a:biLevel thresh="75000"/>
          </a:blip>
          <a:stretch>
            <a:fillRect/>
          </a:stretch>
        </p:blipFill>
        <p:spPr>
          <a:xfrm>
            <a:off x="6439662" y="3105302"/>
            <a:ext cx="281635" cy="281635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Text 27"/>
          <p:cNvSpPr/>
          <p:nvPr/>
        </p:nvSpPr>
        <p:spPr>
          <a:xfrm>
            <a:off x="6982816" y="2935224"/>
            <a:ext cx="456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Laptop Storage (existing)</a:t>
            </a:r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39" name="Text 28"/>
          <p:cNvSpPr/>
          <p:nvPr/>
        </p:nvSpPr>
        <p:spPr>
          <a:xfrm>
            <a:off x="6982816" y="3236976"/>
            <a:ext cx="456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Hosts PostgreSQL DB, logs &amp; models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40" name="Shape 29"/>
          <p:cNvSpPr/>
          <p:nvPr/>
        </p:nvSpPr>
        <p:spPr>
          <a:xfrm>
            <a:off x="6324448" y="3739896"/>
            <a:ext cx="512064" cy="512064"/>
          </a:xfrm>
          <a:prstGeom prst="ellipse">
            <a:avLst/>
          </a:prstGeom>
          <a:noFill/>
          <a:ln>
            <a:noFill/>
          </a:ln>
        </p:spPr>
      </p:sp>
      <p:pic>
        <p:nvPicPr>
          <p:cNvPr id="41" name="Image 9" descr="icons/wave_teal.png"/>
          <p:cNvPicPr>
            <a:picLocks noChangeAspect="1"/>
          </p:cNvPicPr>
          <p:nvPr/>
        </p:nvPicPr>
        <p:blipFill>
          <a:blip r:embed="rId12">
            <a:biLevel thresh="75000"/>
          </a:blip>
          <a:stretch>
            <a:fillRect/>
          </a:stretch>
        </p:blipFill>
        <p:spPr>
          <a:xfrm>
            <a:off x="6439662" y="3855110"/>
            <a:ext cx="281635" cy="281635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Text 30"/>
          <p:cNvSpPr/>
          <p:nvPr/>
        </p:nvSpPr>
        <p:spPr>
          <a:xfrm>
            <a:off x="6982816" y="3685032"/>
            <a:ext cx="456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USB-C Cables</a:t>
            </a:r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43" name="Text 31"/>
          <p:cNvSpPr/>
          <p:nvPr/>
        </p:nvSpPr>
        <p:spPr>
          <a:xfrm>
            <a:off x="6982816" y="3986784"/>
            <a:ext cx="456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Power &amp; program ESP32; charge TP4056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44" name="Shape 32"/>
          <p:cNvSpPr/>
          <p:nvPr/>
        </p:nvSpPr>
        <p:spPr>
          <a:xfrm>
            <a:off x="6324448" y="4489704"/>
            <a:ext cx="512064" cy="512064"/>
          </a:xfrm>
          <a:prstGeom prst="ellipse">
            <a:avLst/>
          </a:prstGeom>
          <a:noFill/>
          <a:ln>
            <a:noFill/>
          </a:ln>
        </p:spPr>
      </p:sp>
      <p:pic>
        <p:nvPicPr>
          <p:cNvPr id="45" name="Image 10" descr="icons/network_teal.png"/>
          <p:cNvPicPr>
            <a:picLocks noChangeAspect="1"/>
          </p:cNvPicPr>
          <p:nvPr/>
        </p:nvPicPr>
        <p:blipFill>
          <a:blip r:embed="rId13">
            <a:biLevel thresh="75000"/>
          </a:blip>
          <a:stretch>
            <a:fillRect/>
          </a:stretch>
        </p:blipFill>
        <p:spPr>
          <a:xfrm>
            <a:off x="6439662" y="4604918"/>
            <a:ext cx="281635" cy="281635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Text 33"/>
          <p:cNvSpPr/>
          <p:nvPr/>
        </p:nvSpPr>
        <p:spPr>
          <a:xfrm>
            <a:off x="6982816" y="4434840"/>
            <a:ext cx="456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Passive Components</a:t>
            </a:r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47" name="Text 34"/>
          <p:cNvSpPr/>
          <p:nvPr/>
        </p:nvSpPr>
        <p:spPr>
          <a:xfrm>
            <a:off x="6982816" y="4736592"/>
            <a:ext cx="456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Resistors &amp; capacitors for signal conditioning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48" name="Text 35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July 13, 2026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49" name="Text 36"/>
          <p:cNvSpPr/>
          <p:nvPr/>
        </p:nvSpPr>
        <p:spPr>
          <a:xfrm>
            <a:off x="3809848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Methodology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50" name="Text 37"/>
          <p:cNvSpPr/>
          <p:nvPr/>
        </p:nvSpPr>
        <p:spPr>
          <a:xfrm>
            <a:off x="1100297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20290838-1688-4869-93D6-A3A0191465A3}" type="slidenum"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16</a:t>
            </a:fld>
            <a:endParaRPr lang="en-US" sz="95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METHODOLOGY · 6</a:t>
            </a:r>
            <a:endParaRPr lang="en-US" sz="1300" dirty="0">
              <a:latin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Software Requirement</a:t>
            </a:r>
            <a:endParaRPr lang="en-US" sz="3600" dirty="0">
              <a:latin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490472"/>
            <a:ext cx="512064" cy="512064"/>
          </a:xfrm>
          <a:prstGeom prst="ellipse">
            <a:avLst/>
          </a:prstGeom>
          <a:noFill/>
          <a:ln>
            <a:noFill/>
          </a:ln>
        </p:spPr>
      </p:sp>
      <p:pic>
        <p:nvPicPr>
          <p:cNvPr id="5" name="Image 0" descr="icons/code_teal.png"/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755294" y="1605686"/>
            <a:ext cx="281635" cy="28163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 3"/>
          <p:cNvSpPr/>
          <p:nvPr/>
        </p:nvSpPr>
        <p:spPr>
          <a:xfrm>
            <a:off x="1298448" y="1435608"/>
            <a:ext cx="456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PlatformIO / Arduino C++</a:t>
            </a:r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298448" y="1737360"/>
            <a:ext cx="456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ESP32 firmware development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40080" y="2240280"/>
            <a:ext cx="512064" cy="512064"/>
          </a:xfrm>
          <a:prstGeom prst="ellipse">
            <a:avLst/>
          </a:prstGeom>
          <a:noFill/>
          <a:ln>
            <a:noFill/>
          </a:ln>
        </p:spPr>
      </p:sp>
      <p:pic>
        <p:nvPicPr>
          <p:cNvPr id="9" name="Image 1" descr="icons/brain_teal.png"/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755294" y="2355494"/>
            <a:ext cx="281635" cy="28163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 6"/>
          <p:cNvSpPr/>
          <p:nvPr/>
        </p:nvSpPr>
        <p:spPr>
          <a:xfrm>
            <a:off x="1298448" y="2185416"/>
            <a:ext cx="456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TensorFlow / Keras</a:t>
            </a:r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298448" y="2487168"/>
            <a:ext cx="456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1D CNN training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640080" y="2990088"/>
            <a:ext cx="512064" cy="512064"/>
          </a:xfrm>
          <a:prstGeom prst="ellipse">
            <a:avLst/>
          </a:prstGeom>
          <a:noFill/>
          <a:ln>
            <a:noFill/>
          </a:ln>
        </p:spPr>
      </p:sp>
      <p:pic>
        <p:nvPicPr>
          <p:cNvPr id="13" name="Image 2" descr="icons/microchip_teal.png"/>
          <p:cNvPicPr>
            <a:picLocks noChangeAspect="1"/>
          </p:cNvPicPr>
          <p:nvPr/>
        </p:nvPicPr>
        <p:blipFill>
          <a:blip r:embed="rId5">
            <a:biLevel thresh="75000"/>
          </a:blip>
          <a:stretch>
            <a:fillRect/>
          </a:stretch>
        </p:blipFill>
        <p:spPr>
          <a:xfrm>
            <a:off x="755294" y="3105302"/>
            <a:ext cx="281635" cy="28163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 9"/>
          <p:cNvSpPr/>
          <p:nvPr/>
        </p:nvSpPr>
        <p:spPr>
          <a:xfrm>
            <a:off x="1298448" y="2935224"/>
            <a:ext cx="456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TFLite Converter + TFLite Micro</a:t>
            </a:r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1298448" y="3236976"/>
            <a:ext cx="456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INT8 quantization &amp; on-device inference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640080" y="3739896"/>
            <a:ext cx="512064" cy="512064"/>
          </a:xfrm>
          <a:prstGeom prst="ellipse">
            <a:avLst/>
          </a:prstGeom>
          <a:noFill/>
          <a:ln>
            <a:noFill/>
          </a:ln>
        </p:spPr>
      </p:sp>
      <p:pic>
        <p:nvPicPr>
          <p:cNvPr id="17" name="Image 3" descr="icons/network_teal.png"/>
          <p:cNvPicPr>
            <a:picLocks noChangeAspect="1"/>
          </p:cNvPicPr>
          <p:nvPr/>
        </p:nvPicPr>
        <p:blipFill>
          <a:blip r:embed="rId6">
            <a:biLevel thresh="75000"/>
          </a:blip>
          <a:stretch>
            <a:fillRect/>
          </a:stretch>
        </p:blipFill>
        <p:spPr>
          <a:xfrm>
            <a:off x="755294" y="3855110"/>
            <a:ext cx="281635" cy="28163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Text 12"/>
          <p:cNvSpPr/>
          <p:nvPr/>
        </p:nvSpPr>
        <p:spPr>
          <a:xfrm>
            <a:off x="1298448" y="3685032"/>
            <a:ext cx="456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ArduinoJSON</a:t>
            </a:r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1298448" y="3986784"/>
            <a:ext cx="456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Event payload serialization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640080" y="4489704"/>
            <a:ext cx="512064" cy="512064"/>
          </a:xfrm>
          <a:prstGeom prst="ellipse">
            <a:avLst/>
          </a:prstGeom>
          <a:noFill/>
          <a:ln>
            <a:noFill/>
          </a:ln>
        </p:spPr>
      </p:sp>
      <p:pic>
        <p:nvPicPr>
          <p:cNvPr id="21" name="Image 4" descr="icons/wifi_teal.png"/>
          <p:cNvPicPr>
            <a:picLocks noChangeAspect="1"/>
          </p:cNvPicPr>
          <p:nvPr/>
        </p:nvPicPr>
        <p:blipFill>
          <a:blip r:embed="rId7">
            <a:biLevel thresh="75000"/>
          </a:blip>
          <a:stretch>
            <a:fillRect/>
          </a:stretch>
        </p:blipFill>
        <p:spPr>
          <a:xfrm>
            <a:off x="755294" y="4604918"/>
            <a:ext cx="281635" cy="28163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Text 15"/>
          <p:cNvSpPr/>
          <p:nvPr/>
        </p:nvSpPr>
        <p:spPr>
          <a:xfrm>
            <a:off x="1298448" y="4434840"/>
            <a:ext cx="456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Mosquitto (MQTT Broker)</a:t>
            </a:r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1298448" y="4736592"/>
            <a:ext cx="456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Wearable-to-gateway messaging (</a:t>
            </a:r>
            <a:r>
              <a:rPr lang="en-US" sz="950" i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Message Queuing Telemetry Transport</a:t>
            </a: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)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24" name="Shape 17"/>
          <p:cNvSpPr/>
          <p:nvPr/>
        </p:nvSpPr>
        <p:spPr>
          <a:xfrm>
            <a:off x="640080" y="5239512"/>
            <a:ext cx="512064" cy="512064"/>
          </a:xfrm>
          <a:prstGeom prst="ellipse">
            <a:avLst/>
          </a:prstGeom>
          <a:noFill/>
          <a:ln>
            <a:noFill/>
          </a:ln>
        </p:spPr>
      </p:sp>
      <p:pic>
        <p:nvPicPr>
          <p:cNvPr id="25" name="Image 5" descr="icons/server_teal.png"/>
          <p:cNvPicPr>
            <a:picLocks noChangeAspect="1"/>
          </p:cNvPicPr>
          <p:nvPr/>
        </p:nvPicPr>
        <p:blipFill>
          <a:blip r:embed="rId8">
            <a:biLevel thresh="75000"/>
          </a:blip>
          <a:stretch>
            <a:fillRect/>
          </a:stretch>
        </p:blipFill>
        <p:spPr>
          <a:xfrm>
            <a:off x="755294" y="5354726"/>
            <a:ext cx="281635" cy="28163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Text 18"/>
          <p:cNvSpPr/>
          <p:nvPr/>
        </p:nvSpPr>
        <p:spPr>
          <a:xfrm>
            <a:off x="1298448" y="5184648"/>
            <a:ext cx="456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FastAPI / Uvicorn</a:t>
            </a:r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1298448" y="5486400"/>
            <a:ext cx="456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Gateway REST backend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6324448" y="1490472"/>
            <a:ext cx="512064" cy="512064"/>
          </a:xfrm>
          <a:prstGeom prst="ellipse">
            <a:avLst/>
          </a:prstGeom>
          <a:noFill/>
          <a:ln>
            <a:noFill/>
          </a:ln>
        </p:spPr>
      </p:sp>
      <p:pic>
        <p:nvPicPr>
          <p:cNvPr id="29" name="Image 6" descr="icons/database_teal.png"/>
          <p:cNvPicPr>
            <a:picLocks noChangeAspect="1"/>
          </p:cNvPicPr>
          <p:nvPr/>
        </p:nvPicPr>
        <p:blipFill>
          <a:blip r:embed="rId9">
            <a:biLevel thresh="75000"/>
          </a:blip>
          <a:stretch>
            <a:fillRect/>
          </a:stretch>
        </p:blipFill>
        <p:spPr>
          <a:xfrm>
            <a:off x="6439662" y="1605686"/>
            <a:ext cx="281635" cy="281635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Text 21"/>
          <p:cNvSpPr/>
          <p:nvPr/>
        </p:nvSpPr>
        <p:spPr>
          <a:xfrm>
            <a:off x="6982816" y="1435608"/>
            <a:ext cx="456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PostgreSQL 14</a:t>
            </a:r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31" name="Text 22"/>
          <p:cNvSpPr/>
          <p:nvPr/>
        </p:nvSpPr>
        <p:spPr>
          <a:xfrm>
            <a:off x="6982816" y="1737360"/>
            <a:ext cx="456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Event log storage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32" name="Shape 23"/>
          <p:cNvSpPr/>
          <p:nvPr/>
        </p:nvSpPr>
        <p:spPr>
          <a:xfrm>
            <a:off x="6324448" y="2240280"/>
            <a:ext cx="512064" cy="512064"/>
          </a:xfrm>
          <a:prstGeom prst="ellipse">
            <a:avLst/>
          </a:prstGeom>
          <a:noFill/>
          <a:ln>
            <a:noFill/>
          </a:ln>
        </p:spPr>
      </p:sp>
      <p:pic>
        <p:nvPicPr>
          <p:cNvPr id="33" name="Image 7" descr="icons/chart_teal.png"/>
          <p:cNvPicPr>
            <a:picLocks noChangeAspect="1"/>
          </p:cNvPicPr>
          <p:nvPr/>
        </p:nvPicPr>
        <p:blipFill>
          <a:blip r:embed="rId10">
            <a:biLevel thresh="75000"/>
          </a:blip>
          <a:stretch>
            <a:fillRect/>
          </a:stretch>
        </p:blipFill>
        <p:spPr>
          <a:xfrm>
            <a:off x="6439662" y="2355494"/>
            <a:ext cx="281635" cy="281635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24"/>
          <p:cNvSpPr/>
          <p:nvPr/>
        </p:nvSpPr>
        <p:spPr>
          <a:xfrm>
            <a:off x="6982816" y="2185416"/>
            <a:ext cx="456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Streamlit</a:t>
            </a:r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35" name="Text 25"/>
          <p:cNvSpPr/>
          <p:nvPr/>
        </p:nvSpPr>
        <p:spPr>
          <a:xfrm>
            <a:off x="6982816" y="2487168"/>
            <a:ext cx="456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Clinical dashboard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36" name="Shape 26"/>
          <p:cNvSpPr/>
          <p:nvPr/>
        </p:nvSpPr>
        <p:spPr>
          <a:xfrm>
            <a:off x="6324448" y="2990088"/>
            <a:ext cx="512064" cy="512064"/>
          </a:xfrm>
          <a:prstGeom prst="ellipse">
            <a:avLst/>
          </a:prstGeom>
          <a:noFill/>
          <a:ln>
            <a:noFill/>
          </a:ln>
        </p:spPr>
      </p:sp>
      <p:pic>
        <p:nvPicPr>
          <p:cNvPr id="37" name="Image 8" descr="icons/telegram_teal.png"/>
          <p:cNvPicPr>
            <a:picLocks noChangeAspect="1"/>
          </p:cNvPicPr>
          <p:nvPr/>
        </p:nvPicPr>
        <p:blipFill>
          <a:blip r:embed="rId11">
            <a:biLevel thresh="75000"/>
          </a:blip>
          <a:stretch>
            <a:fillRect/>
          </a:stretch>
        </p:blipFill>
        <p:spPr>
          <a:xfrm>
            <a:off x="6439662" y="3105302"/>
            <a:ext cx="281635" cy="281635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Text 27"/>
          <p:cNvSpPr/>
          <p:nvPr/>
        </p:nvSpPr>
        <p:spPr>
          <a:xfrm>
            <a:off x="6982816" y="2935224"/>
            <a:ext cx="456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python-telegram-bot</a:t>
            </a:r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39" name="Text 28"/>
          <p:cNvSpPr/>
          <p:nvPr/>
        </p:nvSpPr>
        <p:spPr>
          <a:xfrm>
            <a:off x="6982816" y="3236976"/>
            <a:ext cx="456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Caregiver alert delivery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40" name="Shape 29"/>
          <p:cNvSpPr/>
          <p:nvPr/>
        </p:nvSpPr>
        <p:spPr>
          <a:xfrm>
            <a:off x="6324448" y="3739896"/>
            <a:ext cx="512064" cy="512064"/>
          </a:xfrm>
          <a:prstGeom prst="ellipse">
            <a:avLst/>
          </a:prstGeom>
          <a:noFill/>
          <a:ln>
            <a:noFill/>
          </a:ln>
        </p:spPr>
      </p:sp>
      <p:pic>
        <p:nvPicPr>
          <p:cNvPr id="41" name="Image 9" descr="icons/pdf_teal.png"/>
          <p:cNvPicPr>
            <a:picLocks noChangeAspect="1"/>
          </p:cNvPicPr>
          <p:nvPr/>
        </p:nvPicPr>
        <p:blipFill>
          <a:blip r:embed="rId12">
            <a:biLevel thresh="75000"/>
          </a:blip>
          <a:stretch>
            <a:fillRect/>
          </a:stretch>
        </p:blipFill>
        <p:spPr>
          <a:xfrm>
            <a:off x="6439662" y="3855110"/>
            <a:ext cx="281635" cy="281635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Text 30"/>
          <p:cNvSpPr/>
          <p:nvPr/>
        </p:nvSpPr>
        <p:spPr>
          <a:xfrm>
            <a:off x="6982816" y="3685032"/>
            <a:ext cx="456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ReportLab</a:t>
            </a:r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43" name="Text 31"/>
          <p:cNvSpPr/>
          <p:nvPr/>
        </p:nvSpPr>
        <p:spPr>
          <a:xfrm>
            <a:off x="6982816" y="3986784"/>
            <a:ext cx="456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PDF incident report generation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44" name="Shape 32"/>
          <p:cNvSpPr/>
          <p:nvPr/>
        </p:nvSpPr>
        <p:spPr>
          <a:xfrm>
            <a:off x="6324448" y="4489704"/>
            <a:ext cx="512064" cy="512064"/>
          </a:xfrm>
          <a:prstGeom prst="ellipse">
            <a:avLst/>
          </a:prstGeom>
          <a:noFill/>
          <a:ln>
            <a:noFill/>
          </a:ln>
        </p:spPr>
      </p:sp>
      <p:pic>
        <p:nvPicPr>
          <p:cNvPr id="45" name="Image 10" descr="icons/shield_teal.png"/>
          <p:cNvPicPr>
            <a:picLocks noChangeAspect="1"/>
          </p:cNvPicPr>
          <p:nvPr/>
        </p:nvPicPr>
        <p:blipFill>
          <a:blip r:embed="rId13">
            <a:biLevel thresh="75000"/>
          </a:blip>
          <a:stretch>
            <a:fillRect/>
          </a:stretch>
        </p:blipFill>
        <p:spPr>
          <a:xfrm>
            <a:off x="6439662" y="4604918"/>
            <a:ext cx="281635" cy="281635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Text 33"/>
          <p:cNvSpPr/>
          <p:nvPr/>
        </p:nvSpPr>
        <p:spPr>
          <a:xfrm>
            <a:off x="6982816" y="4434840"/>
            <a:ext cx="456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SHAP (Python library)</a:t>
            </a:r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47" name="Text 34"/>
          <p:cNvSpPr/>
          <p:nvPr/>
        </p:nvSpPr>
        <p:spPr>
          <a:xfrm>
            <a:off x="6982816" y="4736592"/>
            <a:ext cx="456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Per-event feature attribution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48" name="Shape 35"/>
          <p:cNvSpPr/>
          <p:nvPr/>
        </p:nvSpPr>
        <p:spPr>
          <a:xfrm>
            <a:off x="6324448" y="5239512"/>
            <a:ext cx="512064" cy="512064"/>
          </a:xfrm>
          <a:prstGeom prst="ellipse">
            <a:avLst/>
          </a:prstGeom>
          <a:noFill/>
          <a:ln>
            <a:noFill/>
          </a:ln>
        </p:spPr>
      </p:sp>
      <p:pic>
        <p:nvPicPr>
          <p:cNvPr id="49" name="Image 11" descr="icons/github_teal.png"/>
          <p:cNvPicPr>
            <a:picLocks noChangeAspect="1"/>
          </p:cNvPicPr>
          <p:nvPr/>
        </p:nvPicPr>
        <p:blipFill>
          <a:blip r:embed="rId14">
            <a:biLevel thresh="75000"/>
          </a:blip>
          <a:stretch>
            <a:fillRect/>
          </a:stretch>
        </p:blipFill>
        <p:spPr>
          <a:xfrm>
            <a:off x="6439662" y="5354726"/>
            <a:ext cx="281635" cy="28163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Text 36"/>
          <p:cNvSpPr/>
          <p:nvPr/>
        </p:nvSpPr>
        <p:spPr>
          <a:xfrm>
            <a:off x="6982816" y="5184648"/>
            <a:ext cx="456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Git &amp; GitHub</a:t>
            </a:r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51" name="Text 37"/>
          <p:cNvSpPr/>
          <p:nvPr/>
        </p:nvSpPr>
        <p:spPr>
          <a:xfrm>
            <a:off x="6982816" y="5486400"/>
            <a:ext cx="456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Version control &amp; open-source release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53" name="Text 39"/>
          <p:cNvSpPr/>
          <p:nvPr/>
        </p:nvSpPr>
        <p:spPr>
          <a:xfrm>
            <a:off x="3809848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Methodology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55" name="Text 35">
            <a:extLst>
              <a:ext uri="{FF2B5EF4-FFF2-40B4-BE49-F238E27FC236}">
                <a16:creationId xmlns:a16="http://schemas.microsoft.com/office/drawing/2014/main" id="{E729C109-4F2F-4AB2-81B3-2F31030A209C}"/>
              </a:ext>
            </a:extLst>
          </p:cNvPr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July 13, 2026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56" name="Text 37">
            <a:extLst>
              <a:ext uri="{FF2B5EF4-FFF2-40B4-BE49-F238E27FC236}">
                <a16:creationId xmlns:a16="http://schemas.microsoft.com/office/drawing/2014/main" id="{049A1D57-F873-494C-ADAC-93F4AB704FCC}"/>
              </a:ext>
            </a:extLst>
          </p:cNvPr>
          <p:cNvSpPr/>
          <p:nvPr/>
        </p:nvSpPr>
        <p:spPr>
          <a:xfrm>
            <a:off x="1100297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5BEBF947-4E5C-458E-9398-9E98A45088AE}" type="slidenum"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17</a:t>
            </a:fld>
            <a:endParaRPr lang="en-US" sz="95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METHODOLOGY · 7</a:t>
            </a:r>
            <a:endParaRPr lang="en-US" sz="1300" dirty="0">
              <a:latin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Machine Learning Architecture</a:t>
            </a:r>
            <a:endParaRPr lang="en-US" sz="3600" dirty="0">
              <a:latin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1D CNN Layer Sequence</a:t>
            </a:r>
            <a:endParaRPr lang="en-US" sz="1350" dirty="0">
              <a:latin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4206240" cy="457200"/>
          </a:xfrm>
          <a:prstGeom prst="roundRect">
            <a:avLst>
              <a:gd name="adj" fmla="val 12000"/>
            </a:avLst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13796"/>
            <a:ext cx="3986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Conv1D (32 filters, kernel 5) → ReLU</a:t>
            </a:r>
            <a:endParaRPr lang="en-US" sz="1050" dirty="0">
              <a:latin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651760" y="223913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</a:rPr>
              <a:t>↓</a:t>
            </a:r>
          </a:p>
        </p:txBody>
      </p:sp>
      <p:sp>
        <p:nvSpPr>
          <p:cNvPr id="8" name="Shape 6"/>
          <p:cNvSpPr/>
          <p:nvPr/>
        </p:nvSpPr>
        <p:spPr>
          <a:xfrm>
            <a:off x="640080" y="2450592"/>
            <a:ext cx="4206240" cy="457200"/>
          </a:xfrm>
          <a:prstGeom prst="roundRect">
            <a:avLst>
              <a:gd name="adj" fmla="val 12000"/>
            </a:avLst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453876"/>
            <a:ext cx="3986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MaxPool1D (2)</a:t>
            </a:r>
            <a:endParaRPr lang="en-US" sz="1050" dirty="0">
              <a:latin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651760" y="287921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</a:rPr>
              <a:t>↓</a:t>
            </a:r>
          </a:p>
        </p:txBody>
      </p:sp>
      <p:sp>
        <p:nvSpPr>
          <p:cNvPr id="11" name="Shape 9"/>
          <p:cNvSpPr/>
          <p:nvPr/>
        </p:nvSpPr>
        <p:spPr>
          <a:xfrm>
            <a:off x="640080" y="3090672"/>
            <a:ext cx="4206240" cy="457200"/>
          </a:xfrm>
          <a:prstGeom prst="roundRect">
            <a:avLst>
              <a:gd name="adj" fmla="val 12000"/>
            </a:avLst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093956"/>
            <a:ext cx="3986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Conv1D (64 filters, kernel 3) → ReLU</a:t>
            </a:r>
            <a:endParaRPr lang="en-US" sz="1050" dirty="0">
              <a:latin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651760" y="351929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</a:rPr>
              <a:t>↓</a:t>
            </a:r>
          </a:p>
        </p:txBody>
      </p:sp>
      <p:sp>
        <p:nvSpPr>
          <p:cNvPr id="14" name="Shape 12"/>
          <p:cNvSpPr/>
          <p:nvPr/>
        </p:nvSpPr>
        <p:spPr>
          <a:xfrm>
            <a:off x="640080" y="3730752"/>
            <a:ext cx="4206240" cy="457200"/>
          </a:xfrm>
          <a:prstGeom prst="roundRect">
            <a:avLst>
              <a:gd name="adj" fmla="val 12000"/>
            </a:avLst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734036"/>
            <a:ext cx="3986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GlobalAveragePooling1D</a:t>
            </a:r>
            <a:endParaRPr lang="en-US" sz="1050" dirty="0">
              <a:latin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651760" y="415937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</a:rPr>
              <a:t>↓</a:t>
            </a:r>
          </a:p>
        </p:txBody>
      </p:sp>
      <p:sp>
        <p:nvSpPr>
          <p:cNvPr id="17" name="Shape 15"/>
          <p:cNvSpPr/>
          <p:nvPr/>
        </p:nvSpPr>
        <p:spPr>
          <a:xfrm>
            <a:off x="640080" y="4370832"/>
            <a:ext cx="4206240" cy="457200"/>
          </a:xfrm>
          <a:prstGeom prst="roundRect">
            <a:avLst>
              <a:gd name="adj" fmla="val 12000"/>
            </a:avLst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4374116"/>
            <a:ext cx="3986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Dense (32, ReLU)</a:t>
            </a:r>
            <a:endParaRPr lang="en-US" sz="1050" dirty="0">
              <a:latin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651760" y="479945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</a:rPr>
              <a:t>↓</a:t>
            </a:r>
          </a:p>
        </p:txBody>
      </p:sp>
      <p:sp>
        <p:nvSpPr>
          <p:cNvPr id="20" name="Shape 18"/>
          <p:cNvSpPr/>
          <p:nvPr/>
        </p:nvSpPr>
        <p:spPr>
          <a:xfrm>
            <a:off x="640080" y="5010912"/>
            <a:ext cx="4206240" cy="457200"/>
          </a:xfrm>
          <a:prstGeom prst="roundRect">
            <a:avLst>
              <a:gd name="adj" fmla="val 12000"/>
            </a:avLst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5014196"/>
            <a:ext cx="3986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Dense (2, Softmax)</a:t>
            </a:r>
            <a:endParaRPr lang="en-US" sz="1050" dirty="0">
              <a:latin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303520" y="1417320"/>
            <a:ext cx="6248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Training Protocol</a:t>
            </a:r>
            <a:endParaRPr lang="en-US" sz="1350" dirty="0">
              <a:latin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303520" y="1810512"/>
            <a:ext cx="624809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Trained in TensorFlow/Keras on combined UCI MHEALTH + SisFall data, fine-tuned on self-collected KEC data (transfer learning: freeze conv layers, retrain Dense layers)</a:t>
            </a:r>
            <a:endParaRPr lang="en-US" sz="1200" dirty="0">
              <a:latin typeface="Arial" panose="020B0604020202020204" pitchFamily="34" charset="0"/>
            </a:endParaRPr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Adam optimizer (lr = 1e-3), batch size 64, 50 epochs with early stopping (patience = 10 on validation loss)</a:t>
            </a:r>
            <a:endParaRPr lang="en-US" sz="1200" dirty="0">
              <a:latin typeface="Arial" panose="020B0604020202020204" pitchFamily="34" charset="0"/>
            </a:endParaRPr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80/10/10 train/validation/test split, stratified by subject</a:t>
            </a:r>
            <a:endParaRPr lang="en-US" sz="1200" dirty="0">
              <a:latin typeface="Arial" panose="020B0604020202020204" pitchFamily="34" charset="0"/>
            </a:endParaRPr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Class weighting applied to address imbalance between fall events and ADL windows</a:t>
            </a:r>
            <a:endParaRPr lang="en-US" sz="1200" dirty="0">
              <a:latin typeface="Arial" panose="020B0604020202020204" pitchFamily="34" charset="0"/>
            </a:endParaRPr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Target: Sensitivity ≥ 90%, Specificity ≥ 90% on held-out test set</a:t>
            </a:r>
            <a:endParaRPr lang="en-US" sz="1200" dirty="0">
              <a:latin typeface="Arial" panose="020B0604020202020204" pitchFamily="34" charset="0"/>
            </a:endParaRPr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INT8 post-training quantization via TFLite Converter for edge deployment (target ≤ 120 KB flash)</a:t>
            </a:r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809848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Methodology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27" name="Text 35">
            <a:extLst>
              <a:ext uri="{FF2B5EF4-FFF2-40B4-BE49-F238E27FC236}">
                <a16:creationId xmlns:a16="http://schemas.microsoft.com/office/drawing/2014/main" id="{22E3313B-FA1C-45EE-87EA-BBFA51019F1B}"/>
              </a:ext>
            </a:extLst>
          </p:cNvPr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July 13, 2026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28" name="Text 37">
            <a:extLst>
              <a:ext uri="{FF2B5EF4-FFF2-40B4-BE49-F238E27FC236}">
                <a16:creationId xmlns:a16="http://schemas.microsoft.com/office/drawing/2014/main" id="{A624C59F-F457-40C5-AAE8-E5BD0CF86100}"/>
              </a:ext>
            </a:extLst>
          </p:cNvPr>
          <p:cNvSpPr/>
          <p:nvPr/>
        </p:nvSpPr>
        <p:spPr>
          <a:xfrm>
            <a:off x="1100297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14183975-B4A6-4D58-98C6-577B93B8B8F8}" type="slidenum"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18</a:t>
            </a:fld>
            <a:endParaRPr lang="en-US" sz="95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METHODOLOGY · 8</a:t>
            </a:r>
            <a:endParaRPr lang="en-US" sz="1300" dirty="0">
              <a:latin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Algorithm Architecture Diagram</a:t>
            </a:r>
            <a:endParaRPr lang="en-US" sz="3600" dirty="0">
              <a:latin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405660" cy="1463040"/>
          </a:xfrm>
          <a:prstGeom prst="roundRect">
            <a:avLst>
              <a:gd name="adj" fmla="val 3903"/>
            </a:avLst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432304"/>
            <a:ext cx="11862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Input</a:t>
            </a:r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49808" y="3108960"/>
            <a:ext cx="1186204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200 × 6</a:t>
            </a:r>
            <a:endParaRPr lang="en-US" sz="1000" dirty="0">
              <a:latin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0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INT8</a:t>
            </a:r>
            <a:endParaRPr lang="en-US" sz="1000" dirty="0">
              <a:latin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064028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</a:rPr>
              <a:t>→</a:t>
            </a:r>
          </a:p>
        </p:txBody>
      </p:sp>
      <p:sp>
        <p:nvSpPr>
          <p:cNvPr id="8" name="Shape 6"/>
          <p:cNvSpPr/>
          <p:nvPr/>
        </p:nvSpPr>
        <p:spPr>
          <a:xfrm>
            <a:off x="2365780" y="2377440"/>
            <a:ext cx="2082460" cy="1463040"/>
          </a:xfrm>
          <a:prstGeom prst="roundRect">
            <a:avLst>
              <a:gd name="adj" fmla="val 3750"/>
            </a:avLst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75508" y="2432304"/>
            <a:ext cx="18630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Conv1D + MaxPool</a:t>
            </a:r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475508" y="3108960"/>
            <a:ext cx="1863004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32 filters, k5</a:t>
            </a:r>
            <a:endParaRPr lang="en-US" sz="1000" dirty="0">
              <a:latin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0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pool 2 (200→100)</a:t>
            </a:r>
            <a:endParaRPr lang="en-US" sz="1000" dirty="0">
              <a:latin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475906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</a:rPr>
              <a:t>→</a:t>
            </a:r>
          </a:p>
        </p:txBody>
      </p:sp>
      <p:sp>
        <p:nvSpPr>
          <p:cNvPr id="12" name="Shape 10"/>
          <p:cNvSpPr/>
          <p:nvPr/>
        </p:nvSpPr>
        <p:spPr>
          <a:xfrm>
            <a:off x="4768280" y="2377440"/>
            <a:ext cx="2082460" cy="1463040"/>
          </a:xfrm>
          <a:prstGeom prst="roundRect">
            <a:avLst>
              <a:gd name="adj" fmla="val 3750"/>
            </a:avLst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8008" y="2432304"/>
            <a:ext cx="18630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Conv1D + GAP</a:t>
            </a:r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78008" y="3108960"/>
            <a:ext cx="1863004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64 filters, k3</a:t>
            </a:r>
            <a:endParaRPr lang="en-US" sz="1000" dirty="0">
              <a:latin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0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GAP (100→64)</a:t>
            </a:r>
            <a:endParaRPr lang="en-US" sz="1000" dirty="0">
              <a:latin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869027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</a:rPr>
              <a:t>→</a:t>
            </a:r>
          </a:p>
        </p:txBody>
      </p:sp>
      <p:sp>
        <p:nvSpPr>
          <p:cNvPr id="16" name="Shape 14"/>
          <p:cNvSpPr/>
          <p:nvPr/>
        </p:nvSpPr>
        <p:spPr>
          <a:xfrm>
            <a:off x="7170779" y="2377440"/>
            <a:ext cx="1978337" cy="1463040"/>
          </a:xfrm>
          <a:prstGeom prst="roundRect">
            <a:avLst>
              <a:gd name="adj" fmla="val 3750"/>
            </a:avLst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80507" y="2432304"/>
            <a:ext cx="175888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Dense</a:t>
            </a:r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280507" y="3108960"/>
            <a:ext cx="1758881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64 → 32, ReLU</a:t>
            </a:r>
            <a:endParaRPr lang="en-US" sz="1000" dirty="0">
              <a:latin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167404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</a:rPr>
              <a:t>→</a:t>
            </a:r>
          </a:p>
        </p:txBody>
      </p:sp>
      <p:sp>
        <p:nvSpPr>
          <p:cNvPr id="20" name="Shape 18"/>
          <p:cNvSpPr/>
          <p:nvPr/>
        </p:nvSpPr>
        <p:spPr>
          <a:xfrm>
            <a:off x="9469156" y="2377440"/>
            <a:ext cx="2082460" cy="1463040"/>
          </a:xfrm>
          <a:prstGeom prst="roundRect">
            <a:avLst>
              <a:gd name="adj" fmla="val 3750"/>
            </a:avLst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78884" y="2432304"/>
            <a:ext cx="18630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Softmax</a:t>
            </a:r>
            <a:endParaRPr lang="en-US" sz="1200" dirty="0">
              <a:latin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578884" y="3108960"/>
            <a:ext cx="1863004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FALL P=0.91</a:t>
            </a:r>
            <a:endParaRPr lang="en-US" sz="1000" dirty="0">
              <a:latin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0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ADL P=0.09</a:t>
            </a:r>
            <a:endParaRPr lang="en-US" sz="1000" dirty="0">
              <a:latin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0080" y="41605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threshold: P(FALL) &gt; 0.85 → CONFIRMED_FALL</a:t>
            </a:r>
            <a:endParaRPr lang="en-US" sz="1300" dirty="0">
              <a:latin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0080" y="466344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Two Conv1D blocks (with MaxPool after the first) compress the 200-sample IMU window to a 64-channel feature map, which GlobalAveragePooling1D collapses before a Dense + Softmax head. INT8-quantized for TFLite Micro deployment on the ESP32.</a:t>
            </a:r>
            <a:endParaRPr lang="en-US" sz="1100" dirty="0">
              <a:latin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July 13, 2026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809848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Methodology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100297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4B21D9A6-DAEE-4E2B-81B6-CABF66326970}" type="slidenum"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19</a:t>
            </a:fld>
            <a:endParaRPr lang="en-US" sz="95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633DEF-EC60-4F31-903C-5C7266E2F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1970808"/>
            <a:ext cx="11849100" cy="2916383"/>
          </a:xfrm>
          <a:prstGeom prst="rect">
            <a:avLst/>
          </a:prstGeom>
        </p:spPr>
      </p:pic>
      <p:sp>
        <p:nvSpPr>
          <p:cNvPr id="4" name="Text 4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July 13, 2026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5" name="Text 5"/>
          <p:cNvSpPr/>
          <p:nvPr/>
        </p:nvSpPr>
        <p:spPr>
          <a:xfrm>
            <a:off x="1100297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35085249-166D-4ED3-B1BF-74EF8A5BEA6C}" type="slidenum"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20</a:t>
            </a:fld>
            <a:endParaRPr lang="en-US" sz="95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54317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4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July 13, 2026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5" name="Text 5"/>
          <p:cNvSpPr/>
          <p:nvPr/>
        </p:nvSpPr>
        <p:spPr>
          <a:xfrm>
            <a:off x="1100297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35085249-166D-4ED3-B1BF-74EF8A5BEA6C}" type="slidenum"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21</a:t>
            </a:fld>
            <a:endParaRPr lang="en-US" sz="950" dirty="0">
              <a:latin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6F4C6FA-FAE3-4D19-9D43-B7688E063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2315"/>
            <a:ext cx="6405969" cy="27118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9515B6F-96FE-49A8-AA09-7179524962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03" y="3493442"/>
            <a:ext cx="6311581" cy="271182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6C30D96-7B36-49B7-AD2B-36C32E6DFD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8684" y="1478246"/>
            <a:ext cx="5030437" cy="4030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4124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METHODOLOGY · 9</a:t>
            </a:r>
            <a:endParaRPr lang="en-US" sz="1300" dirty="0">
              <a:latin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Dataset Preparation</a:t>
            </a:r>
            <a:endParaRPr lang="en-US" sz="3600" dirty="0">
              <a:latin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332378" cy="3291840"/>
          </a:xfrm>
          <a:prstGeom prst="roundRect">
            <a:avLst>
              <a:gd name="adj" fmla="val 2222"/>
            </a:avLst>
          </a:prstGeom>
          <a:noFill/>
          <a:ln>
            <a:solidFill>
              <a:schemeClr val="tx1"/>
            </a:solidFill>
          </a:ln>
        </p:spPr>
      </p:sp>
      <p:sp>
        <p:nvSpPr>
          <p:cNvPr id="5" name="Shape 3"/>
          <p:cNvSpPr/>
          <p:nvPr/>
        </p:nvSpPr>
        <p:spPr>
          <a:xfrm>
            <a:off x="1940509" y="169164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icons/database_teal.png"/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2105101" y="185623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56032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UCI MHEALTH</a:t>
            </a:r>
            <a:endParaRPr lang="en-US" sz="1400" dirty="0">
              <a:latin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68680" y="3017520"/>
            <a:ext cx="287517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23 physical activities, 10 subjects, 3 body-worn IMUs at 50 Hz — resampled to 100 Hz; fall-relevant windows extracted.</a:t>
            </a:r>
            <a:endParaRPr lang="en-US" sz="1050" dirty="0">
              <a:latin typeface="Arial" panose="020B06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429658" y="1463040"/>
            <a:ext cx="3332378" cy="3291840"/>
          </a:xfrm>
          <a:prstGeom prst="roundRect">
            <a:avLst>
              <a:gd name="adj" fmla="val 2222"/>
            </a:avLst>
          </a:prstGeom>
          <a:noFill/>
          <a:ln>
            <a:solidFill>
              <a:schemeClr val="tx1"/>
            </a:solidFill>
          </a:ln>
        </p:spPr>
      </p:sp>
      <p:sp>
        <p:nvSpPr>
          <p:cNvPr id="10" name="Shape 7"/>
          <p:cNvSpPr/>
          <p:nvPr/>
        </p:nvSpPr>
        <p:spPr>
          <a:xfrm>
            <a:off x="5730088" y="169164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icons/database_teal.png"/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5894680" y="185623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2538" y="256032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SisFall</a:t>
            </a:r>
            <a:endParaRPr lang="en-US" sz="1400" dirty="0">
              <a:latin typeface="Arial" panose="020B0604020202020204" pitchFamily="3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658258" y="3017520"/>
            <a:ext cx="287517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15 fall types + 19 ADL types from 38 subjects at 200 Hz — downsampled to 100 Hz; falls = positive class, ADLs = negative class.</a:t>
            </a:r>
            <a:endParaRPr lang="en-US" sz="1050" dirty="0">
              <a:latin typeface="Arial" panose="020B0604020202020204" pitchFamily="34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8219237" y="1463040"/>
            <a:ext cx="3332378" cy="3291840"/>
          </a:xfrm>
          <a:prstGeom prst="roundRect">
            <a:avLst>
              <a:gd name="adj" fmla="val 2222"/>
            </a:avLst>
          </a:prstGeom>
          <a:noFill/>
          <a:ln>
            <a:solidFill>
              <a:schemeClr val="tx1"/>
            </a:solidFill>
          </a:ln>
        </p:spPr>
      </p:sp>
      <p:pic>
        <p:nvPicPr>
          <p:cNvPr id="16" name="Image 2" descr="icons/database_teal.png"/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9684258" y="185623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02117" y="256032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Self-Collected KEC Dataset</a:t>
            </a:r>
            <a:endParaRPr lang="en-US" sz="1400" dirty="0">
              <a:latin typeface="Arial" panose="020B0604020202020204" pitchFamily="34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8447837" y="3017520"/>
            <a:ext cx="287517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Controlled fall simulations (forward trip, lateral L/R, sitting-to-floor) and ADLs (walking, running, stair-climbing, sit-to-stand, bending) recorded at 100 Hz. Target: ≥500 fall windows + ≥2000 ADL windows. To be published on GitHub as “KEC Wearable Fall Dataset in Nepal Context.”</a:t>
            </a:r>
            <a:endParaRPr lang="en-US" sz="1050" dirty="0">
              <a:latin typeface="Arial" panose="020B0604020202020204" pitchFamily="34" charset="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640080" y="498348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All datasets windowed at 2 seconds with 50% overlap. Per-channel StandardScaler normalization is applied, with scaler parameters (mean, std) baked into the firmware as constant arrays.</a:t>
            </a:r>
            <a:endParaRPr lang="en-US" sz="1150" dirty="0">
              <a:latin typeface="Arial" panose="020B0604020202020204" pitchFamily="34" charset="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July 13, 2026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3809848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Methodology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1100297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48CE5080-7B59-497D-8336-869DC5672756}" type="slidenum"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22</a:t>
            </a:fld>
            <a:endParaRPr lang="en-US" sz="95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15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July 13, 2026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3809848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Methodology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1100297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48CE5080-7B59-497D-8336-869DC5672756}" type="slidenum"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23</a:t>
            </a:fld>
            <a:endParaRPr lang="en-US" sz="950" dirty="0">
              <a:latin typeface="Arial" panose="020B0604020202020204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21BD06A-098A-4B03-8924-7D5AE9E493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5082"/>
          <a:stretch/>
        </p:blipFill>
        <p:spPr>
          <a:xfrm>
            <a:off x="669760" y="1298448"/>
            <a:ext cx="10852173" cy="5242479"/>
          </a:xfrm>
          <a:prstGeom prst="rect">
            <a:avLst/>
          </a:prstGeom>
        </p:spPr>
      </p:pic>
      <p:sp>
        <p:nvSpPr>
          <p:cNvPr id="24" name="Text 1">
            <a:extLst>
              <a:ext uri="{FF2B5EF4-FFF2-40B4-BE49-F238E27FC236}">
                <a16:creationId xmlns:a16="http://schemas.microsoft.com/office/drawing/2014/main" id="{696CC73B-EF7D-4B2D-B128-5C077A384F40}"/>
              </a:ext>
            </a:extLst>
          </p:cNvPr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b="1" dirty="0"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Data Collection Protocol</a:t>
            </a:r>
            <a:endParaRPr lang="en-US" sz="3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91155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ANALYSIS</a:t>
            </a:r>
            <a:endParaRPr lang="en-US" sz="1300" dirty="0">
              <a:latin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Feasibility Study</a:t>
            </a:r>
            <a:endParaRPr lang="en-US" sz="3600" dirty="0">
              <a:latin typeface="Arial" panose="020B0604020202020204" pitchFamily="34" charset="0"/>
            </a:endParaRPr>
          </a:p>
        </p:txBody>
      </p:sp>
      <p:pic>
        <p:nvPicPr>
          <p:cNvPr id="5" name="Image 0" descr="icons/check_teal.png"/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731520" y="15087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417320"/>
            <a:ext cx="463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Technical Feasibility</a:t>
            </a:r>
            <a:endParaRPr lang="en-US" sz="1500" dirty="0">
              <a:latin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40080" y="1965960"/>
            <a:ext cx="5227168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TFLite Micro CNN inference demonstrated on Cortex-M4 class hardware below 250 KB flash — ESP32 offers a larger 520 KB SRAM / 4 MB flash envelope</a:t>
            </a:r>
            <a:endParaRPr lang="en-US" sz="1100" dirty="0">
              <a:latin typeface="Arial" panose="020B0604020202020204" pitchFamily="34" charset="0"/>
            </a:endParaRPr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INT8 quantization reduces the 1D CNN to ~80–120 KB of flash, leaving headroom for the Arduino SDK, WiFi stack, and ring-buffer firmware</a:t>
            </a:r>
            <a:endParaRPr lang="en-US" sz="1100" dirty="0">
              <a:latin typeface="Arial" panose="020B0604020202020204" pitchFamily="34" charset="0"/>
            </a:endParaRPr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Layer 1 threshold logic completes in under 1 ms; Layer 2 CNN inference runs only on candidate windows (typically &lt;5 per hour of normal ADL)</a:t>
            </a:r>
            <a:endParaRPr lang="en-US" sz="1100" dirty="0">
              <a:latin typeface="Arial" panose="020B0604020202020204" pitchFamily="34" charset="0"/>
            </a:endParaRPr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WiFi-MQTT pipeline delivers JSON payloads to the gateway within 50–100 ms under typical indoor conditions</a:t>
            </a:r>
            <a:endParaRPr lang="en-US" sz="1100" dirty="0">
              <a:latin typeface="Arial" panose="020B0604020202020204" pitchFamily="34" charset="0"/>
            </a:endParaRPr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SHAP gateway pipeline computes per-event attributions in under 200 ms — well below the 2-second Telegram alert deadline</a:t>
            </a:r>
            <a:endParaRPr lang="en-US" sz="1100" dirty="0">
              <a:latin typeface="Arial" panose="020B0604020202020204" pitchFamily="34" charset="0"/>
            </a:endParaRPr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All software libraries are open-source and actively maintained; no custom PCB fabrication or restricted-component imports required</a:t>
            </a:r>
            <a:endParaRPr lang="en-US" sz="1100" dirty="0">
              <a:latin typeface="Arial" panose="020B0604020202020204" pitchFamily="34" charset="0"/>
            </a:endParaRPr>
          </a:p>
        </p:txBody>
      </p:sp>
      <p:pic>
        <p:nvPicPr>
          <p:cNvPr id="9" name="Image 1" descr="icons/money_amber.png"/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6415888" y="150876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18808" y="1417320"/>
            <a:ext cx="463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Economic Feasibility</a:t>
            </a:r>
            <a:endParaRPr lang="en-US" sz="1500" dirty="0">
              <a:latin typeface="Arial" panose="020B0604020202020204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324448" y="1965960"/>
            <a:ext cx="52271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All hardware is procurable locally from Himalayan Solutions, Breadfruit Electronics, Daraz, SLT Pvt. Ltd., Giga Nepal, and RoboNepal within one day</a:t>
            </a:r>
            <a:endParaRPr lang="en-US" sz="1100" dirty="0">
              <a:latin typeface="Arial" panose="020B0604020202020204" pitchFamily="34" charset="0"/>
            </a:endParaRPr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Gateway runs on team-owned laptop hardware — zero incremental gateway cost</a:t>
            </a:r>
            <a:endParaRPr lang="en-US" sz="1100" dirty="0">
              <a:latin typeface="Arial" panose="020B0604020202020204" pitchFamily="34" charset="0"/>
            </a:endParaRPr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4086376"/>
              </p:ext>
            </p:extLst>
          </p:nvPr>
        </p:nvGraphicFramePr>
        <p:xfrm>
          <a:off x="6324448" y="3383280"/>
          <a:ext cx="5227168" cy="1152144"/>
        </p:xfrm>
        <a:graphic>
          <a:graphicData uri="http://schemas.openxmlformats.org/drawingml/2006/table">
            <a:tbl>
              <a:tblPr/>
              <a:tblGrid>
                <a:gridCol w="33976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95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Cost Estimate</a:t>
                      </a:r>
                      <a:endParaRPr lang="en-US" sz="12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Amount (NPR)</a:t>
                      </a:r>
                      <a:endParaRPr lang="en-US" sz="12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33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Total Cost Estimate</a:t>
                      </a:r>
                      <a:endParaRPr lang="en-US" sz="12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33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15,004/-</a:t>
                      </a:r>
                      <a:endParaRPr lang="en-US" sz="12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B33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Departmental Ask (net of self-funded items)</a:t>
                      </a:r>
                      <a:endParaRPr lang="en-US" sz="12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8912D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13,025/-</a:t>
                      </a:r>
                      <a:endParaRPr lang="en-US" sz="12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6324448" y="4709160"/>
            <a:ext cx="522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Two wearable nodes and development consumables. Full component breakdown in Table 4.1 of the proposal.</a:t>
            </a:r>
            <a:endParaRPr lang="en-US" sz="1000" dirty="0">
              <a:latin typeface="Arial" panose="020B0604020202020204" pitchFamily="34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July 13, 2026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3809848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Feasibility Study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1100297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DCCC251D-D826-4CFA-901E-2B5B5611C8B6}" type="slidenum"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24</a:t>
            </a:fld>
            <a:endParaRPr lang="en-US" sz="95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8DED3E1-03A3-408E-82FB-1A1F727673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5058248"/>
              </p:ext>
            </p:extLst>
          </p:nvPr>
        </p:nvGraphicFramePr>
        <p:xfrm>
          <a:off x="640080" y="1271016"/>
          <a:ext cx="10911536" cy="28930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8">
                  <a:extLst>
                    <a:ext uri="{9D8B030D-6E8A-4147-A177-3AD203B41FA5}">
                      <a16:colId xmlns:a16="http://schemas.microsoft.com/office/drawing/2014/main" val="821704597"/>
                    </a:ext>
                  </a:extLst>
                </a:gridCol>
                <a:gridCol w="5455768">
                  <a:extLst>
                    <a:ext uri="{9D8B030D-6E8A-4147-A177-3AD203B41FA5}">
                      <a16:colId xmlns:a16="http://schemas.microsoft.com/office/drawing/2014/main" val="1684742805"/>
                    </a:ext>
                  </a:extLst>
                </a:gridCol>
              </a:tblGrid>
              <a:tr h="2893021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25990"/>
                  </a:ext>
                </a:extLst>
              </a:tr>
            </a:tbl>
          </a:graphicData>
        </a:graphic>
      </p:graphicFrame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spc="300" dirty="0"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EXPECTED OUTPUT</a:t>
            </a:r>
            <a:endParaRPr lang="en-US" sz="1400" spc="300" dirty="0">
              <a:latin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4937760"/>
            <a:ext cx="5227168" cy="1234440"/>
          </a:xfrm>
          <a:prstGeom prst="roundRect">
            <a:avLst>
              <a:gd name="adj" fmla="val 5185"/>
            </a:avLst>
          </a:prstGeom>
          <a:noFill/>
          <a:ln/>
        </p:spPr>
      </p:sp>
      <p:sp>
        <p:nvSpPr>
          <p:cNvPr id="11" name="Text 9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July 13, 2026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809848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Expected Output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00297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6DBE5BE2-68F1-4BA5-8B77-C705AAE4860D}" type="slidenum"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25</a:t>
            </a:fld>
            <a:endParaRPr lang="en-US" sz="950" dirty="0">
              <a:latin typeface="Arial" panose="020B0604020202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FD43957-C32E-4EE8-AC5D-6C00CC206E96}"/>
              </a:ext>
            </a:extLst>
          </p:cNvPr>
          <p:cNvGrpSpPr/>
          <p:nvPr/>
        </p:nvGrpSpPr>
        <p:grpSpPr>
          <a:xfrm>
            <a:off x="640080" y="1417320"/>
            <a:ext cx="5227168" cy="3337560"/>
            <a:chOff x="640080" y="1417320"/>
            <a:chExt cx="5227168" cy="3337560"/>
          </a:xfrm>
        </p:grpSpPr>
        <p:sp>
          <p:nvSpPr>
            <p:cNvPr id="15" name="Text 2">
              <a:extLst>
                <a:ext uri="{FF2B5EF4-FFF2-40B4-BE49-F238E27FC236}">
                  <a16:creationId xmlns:a16="http://schemas.microsoft.com/office/drawing/2014/main" id="{A4961DCC-7A55-49B9-B62F-1CEE28EA2BF8}"/>
                </a:ext>
              </a:extLst>
            </p:cNvPr>
            <p:cNvSpPr/>
            <p:nvPr/>
          </p:nvSpPr>
          <p:spPr>
            <a:xfrm>
              <a:off x="640080" y="1417320"/>
              <a:ext cx="5227168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u="sng" dirty="0"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Hardware Deliverables</a:t>
              </a:r>
              <a:endParaRPr lang="en-US" sz="1500" u="sng" dirty="0">
                <a:latin typeface="Arial" panose="020B0604020202020204" pitchFamily="34" charset="0"/>
              </a:endParaRPr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0B50A3E8-72EE-4748-9784-F4117640D973}"/>
                </a:ext>
              </a:extLst>
            </p:cNvPr>
            <p:cNvSpPr/>
            <p:nvPr/>
          </p:nvSpPr>
          <p:spPr>
            <a:xfrm>
              <a:off x="640080" y="1828800"/>
              <a:ext cx="5227168" cy="2926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177800" indent="-177800">
                <a:spcAft>
                  <a:spcPts val="1200"/>
                </a:spcAft>
                <a:buSzPct val="100000"/>
                <a:buChar char="●"/>
              </a:pPr>
              <a:r>
                <a:rPr lang="en-US" sz="1200" b="1" dirty="0"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Functional wearable node </a:t>
              </a:r>
              <a:r>
                <a:rPr lang="en-US" sz="1200" dirty="0"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— ESP32-S3 + MPU6050, 18650 battery, TP4056 charger, AMS1117-3.3 LDO, INA219 telemetry, 3D-printed enclosure</a:t>
              </a:r>
              <a:endParaRPr lang="en-US" sz="1200" dirty="0">
                <a:latin typeface="Arial" panose="020B0604020202020204" pitchFamily="34" charset="0"/>
              </a:endParaRPr>
            </a:p>
            <a:p>
              <a:pPr marL="177800" indent="-177800">
                <a:spcAft>
                  <a:spcPts val="1200"/>
                </a:spcAft>
                <a:buSzPct val="100000"/>
                <a:buChar char="●"/>
              </a:pPr>
              <a:r>
                <a:rPr lang="en-US" sz="1200" b="1" dirty="0"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Gateway unit </a:t>
              </a:r>
              <a:r>
                <a:rPr lang="en-US" sz="1200" dirty="0"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— Laptop running the complete SPARK gateway stack</a:t>
              </a:r>
              <a:endParaRPr lang="en-US" sz="1200" dirty="0">
                <a:latin typeface="Arial" panose="020B0604020202020204" pitchFamily="34" charset="0"/>
              </a:endParaRPr>
            </a:p>
            <a:p>
              <a:pPr marL="177800" indent="-177800">
                <a:spcAft>
                  <a:spcPts val="1200"/>
                </a:spcAft>
                <a:buSzPct val="100000"/>
                <a:buChar char="●"/>
              </a:pPr>
              <a:r>
                <a:rPr lang="en-US" sz="1200" b="1" dirty="0"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Power characterization report </a:t>
              </a:r>
              <a:r>
                <a:rPr lang="en-US" sz="1200" dirty="0"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— active/idle current draw and estimated battery life (target ≥25 hours from a 2000 mAh cell)</a:t>
              </a:r>
              <a:endParaRPr lang="en-US" sz="1200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556C52D-0F0B-47E7-84C7-DD93FBF594BE}"/>
              </a:ext>
            </a:extLst>
          </p:cNvPr>
          <p:cNvGrpSpPr/>
          <p:nvPr/>
        </p:nvGrpSpPr>
        <p:grpSpPr>
          <a:xfrm>
            <a:off x="6324754" y="1417320"/>
            <a:ext cx="5227168" cy="4434840"/>
            <a:chOff x="6324448" y="1417320"/>
            <a:chExt cx="5227168" cy="4434840"/>
          </a:xfrm>
        </p:grpSpPr>
        <p:sp>
          <p:nvSpPr>
            <p:cNvPr id="17" name="Text 4">
              <a:extLst>
                <a:ext uri="{FF2B5EF4-FFF2-40B4-BE49-F238E27FC236}">
                  <a16:creationId xmlns:a16="http://schemas.microsoft.com/office/drawing/2014/main" id="{3720F283-57D3-4F53-BC55-3CC74646DDE0}"/>
                </a:ext>
              </a:extLst>
            </p:cNvPr>
            <p:cNvSpPr/>
            <p:nvPr/>
          </p:nvSpPr>
          <p:spPr>
            <a:xfrm>
              <a:off x="6324448" y="1417320"/>
              <a:ext cx="5227168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u="sng" dirty="0"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Software Deliverables</a:t>
              </a:r>
              <a:endParaRPr lang="en-US" sz="1500" u="sng" dirty="0">
                <a:latin typeface="Arial" panose="020B0604020202020204" pitchFamily="34" charset="0"/>
              </a:endParaRPr>
            </a:p>
          </p:txBody>
        </p:sp>
        <p:sp>
          <p:nvSpPr>
            <p:cNvPr id="18" name="Text 5">
              <a:extLst>
                <a:ext uri="{FF2B5EF4-FFF2-40B4-BE49-F238E27FC236}">
                  <a16:creationId xmlns:a16="http://schemas.microsoft.com/office/drawing/2014/main" id="{030D3DB0-E8FE-4EAB-869A-9E9FD792E82A}"/>
                </a:ext>
              </a:extLst>
            </p:cNvPr>
            <p:cNvSpPr/>
            <p:nvPr/>
          </p:nvSpPr>
          <p:spPr>
            <a:xfrm>
              <a:off x="6324448" y="1828800"/>
              <a:ext cx="5227168" cy="4023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177800" indent="-177800">
                <a:spcAft>
                  <a:spcPts val="900"/>
                </a:spcAft>
                <a:buSzPct val="100000"/>
                <a:buChar char="●"/>
              </a:pPr>
              <a:r>
                <a:rPr lang="en-US" sz="1100" b="1" dirty="0"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ESP32 firmware (PlatformIO/Arduino C++) </a:t>
              </a:r>
              <a:r>
                <a:rPr lang="en-US" sz="1100" dirty="0"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— full sensing, filtering, two-layer detection, and MQTT publishing pipeline</a:t>
              </a:r>
              <a:endParaRPr lang="en-US" sz="1100" dirty="0">
                <a:latin typeface="Arial" panose="020B0604020202020204" pitchFamily="34" charset="0"/>
              </a:endParaRPr>
            </a:p>
            <a:p>
              <a:pPr marL="177800" indent="-177800">
                <a:spcAft>
                  <a:spcPts val="900"/>
                </a:spcAft>
                <a:buSzPct val="100000"/>
                <a:buChar char="●"/>
              </a:pPr>
              <a:r>
                <a:rPr lang="en-US" sz="1100" b="1" dirty="0"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Trained, quantized 1D CNN </a:t>
              </a:r>
              <a:r>
                <a:rPr lang="en-US" sz="1100" dirty="0"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— INT8 TFLite model (≤120 KB) targeting Sensitivity ≥ 90% and Specificity ≥ 90%</a:t>
              </a:r>
              <a:endParaRPr lang="en-US" sz="1100" dirty="0">
                <a:latin typeface="Arial" panose="020B0604020202020204" pitchFamily="34" charset="0"/>
              </a:endParaRPr>
            </a:p>
            <a:p>
              <a:pPr marL="177800" indent="-177800">
                <a:spcAft>
                  <a:spcPts val="900"/>
                </a:spcAft>
                <a:buSzPct val="100000"/>
                <a:buChar char="●"/>
              </a:pPr>
              <a:r>
                <a:rPr lang="en-US" sz="1100" b="1" dirty="0"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Gateway backend </a:t>
              </a:r>
              <a:r>
                <a:rPr lang="en-US" sz="1100" dirty="0"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— FastAPI/PostgreSQL, SHAP pipeline, Telegram alerts, Streamlit dashboard, ReportLab PDF reports</a:t>
              </a:r>
              <a:endParaRPr lang="en-US" sz="1100" dirty="0">
                <a:latin typeface="Arial" panose="020B0604020202020204" pitchFamily="34" charset="0"/>
              </a:endParaRPr>
            </a:p>
            <a:p>
              <a:pPr marL="177800" indent="-177800">
                <a:spcAft>
                  <a:spcPts val="900"/>
                </a:spcAft>
                <a:buSzPct val="100000"/>
                <a:buChar char="●"/>
              </a:pPr>
              <a:r>
                <a:rPr lang="en-US" sz="1100" b="1" dirty="0"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Self-collected KEC Wearable Fall Dataset </a:t>
              </a:r>
              <a:r>
                <a:rPr lang="en-US" sz="1100" dirty="0"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— ≥500 fall windows + ≥2000 ADL windows, published openly</a:t>
              </a:r>
              <a:endParaRPr lang="en-US" sz="1100" dirty="0">
                <a:latin typeface="Arial" panose="020B0604020202020204" pitchFamily="34" charset="0"/>
              </a:endParaRPr>
            </a:p>
            <a:p>
              <a:pPr marL="177800" indent="-177800">
                <a:spcAft>
                  <a:spcPts val="900"/>
                </a:spcAft>
                <a:buSzPct val="100000"/>
                <a:buChar char="●"/>
              </a:pPr>
              <a:r>
                <a:rPr lang="en-US" sz="1100" b="1" dirty="0"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GitHub repository </a:t>
              </a:r>
              <a:r>
                <a:rPr lang="en-US" sz="1100" dirty="0"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— firmware, gateway software, trained model, dataset, and schematic with a reproducible README</a:t>
              </a:r>
              <a:endParaRPr lang="en-US" sz="1100" dirty="0">
                <a:latin typeface="Arial" panose="020B0604020202020204" pitchFamily="34" charset="0"/>
              </a:endParaRPr>
            </a:p>
          </p:txBody>
        </p:sp>
      </p:grpSp>
      <p:sp>
        <p:nvSpPr>
          <p:cNvPr id="20" name="Text 1">
            <a:extLst>
              <a:ext uri="{FF2B5EF4-FFF2-40B4-BE49-F238E27FC236}">
                <a16:creationId xmlns:a16="http://schemas.microsoft.com/office/drawing/2014/main" id="{D39A5C1A-A113-4BDD-87E0-2907584A53BA}"/>
              </a:ext>
            </a:extLst>
          </p:cNvPr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The impact WE will make</a:t>
            </a:r>
            <a:endParaRPr lang="en-US" sz="36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612D4F6D-BA12-4EE7-808F-8127DCB9D740}"/>
              </a:ext>
            </a:extLst>
          </p:cNvPr>
          <p:cNvGrpSpPr/>
          <p:nvPr/>
        </p:nvGrpSpPr>
        <p:grpSpPr>
          <a:xfrm>
            <a:off x="579120" y="1485900"/>
            <a:ext cx="11109960" cy="4297680"/>
            <a:chOff x="548640" y="1783080"/>
            <a:chExt cx="11109960" cy="4297680"/>
          </a:xfrm>
        </p:grpSpPr>
        <p:sp>
          <p:nvSpPr>
            <p:cNvPr id="52" name="Text 2">
              <a:extLst>
                <a:ext uri="{FF2B5EF4-FFF2-40B4-BE49-F238E27FC236}">
                  <a16:creationId xmlns:a16="http://schemas.microsoft.com/office/drawing/2014/main" id="{DAF89BD2-7812-43A7-9F90-104D4048C864}"/>
                </a:ext>
              </a:extLst>
            </p:cNvPr>
            <p:cNvSpPr/>
            <p:nvPr/>
          </p:nvSpPr>
          <p:spPr>
            <a:xfrm>
              <a:off x="2331720" y="1783080"/>
              <a:ext cx="847898" cy="4775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E2761"/>
                  </a:solidFill>
                  <a:latin typeface="Arial" panose="020B0604020202020204" pitchFamily="34" charset="0"/>
                  <a:ea typeface="Times New Roman" pitchFamily="34" charset="-122"/>
                  <a:cs typeface="Arial" panose="020B0604020202020204" pitchFamily="34" charset="0"/>
                </a:rPr>
                <a:t>May</a:t>
              </a:r>
              <a:endParaRPr lang="en-US" sz="13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Text 3">
              <a:extLst>
                <a:ext uri="{FF2B5EF4-FFF2-40B4-BE49-F238E27FC236}">
                  <a16:creationId xmlns:a16="http://schemas.microsoft.com/office/drawing/2014/main" id="{F4ED20ED-6194-42C3-A11F-37676088A587}"/>
                </a:ext>
              </a:extLst>
            </p:cNvPr>
            <p:cNvSpPr/>
            <p:nvPr/>
          </p:nvSpPr>
          <p:spPr>
            <a:xfrm>
              <a:off x="3179618" y="1783080"/>
              <a:ext cx="847898" cy="4775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E2761"/>
                  </a:solidFill>
                  <a:latin typeface="Arial" panose="020B0604020202020204" pitchFamily="34" charset="0"/>
                  <a:ea typeface="Times New Roman" pitchFamily="34" charset="-122"/>
                  <a:cs typeface="Arial" panose="020B0604020202020204" pitchFamily="34" charset="0"/>
                </a:rPr>
                <a:t>Jun</a:t>
              </a:r>
              <a:endParaRPr lang="en-US" sz="13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Text 4">
              <a:extLst>
                <a:ext uri="{FF2B5EF4-FFF2-40B4-BE49-F238E27FC236}">
                  <a16:creationId xmlns:a16="http://schemas.microsoft.com/office/drawing/2014/main" id="{A1A27DAC-628E-4068-BCA3-DE04B3260C3E}"/>
                </a:ext>
              </a:extLst>
            </p:cNvPr>
            <p:cNvSpPr/>
            <p:nvPr/>
          </p:nvSpPr>
          <p:spPr>
            <a:xfrm>
              <a:off x="4027516" y="1783080"/>
              <a:ext cx="847898" cy="4775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E2761"/>
                  </a:solidFill>
                  <a:latin typeface="Arial" panose="020B0604020202020204" pitchFamily="34" charset="0"/>
                  <a:ea typeface="Times New Roman" pitchFamily="34" charset="-122"/>
                  <a:cs typeface="Arial" panose="020B0604020202020204" pitchFamily="34" charset="0"/>
                </a:rPr>
                <a:t>Jul</a:t>
              </a:r>
              <a:endParaRPr lang="en-US" sz="13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Text 5">
              <a:extLst>
                <a:ext uri="{FF2B5EF4-FFF2-40B4-BE49-F238E27FC236}">
                  <a16:creationId xmlns:a16="http://schemas.microsoft.com/office/drawing/2014/main" id="{A47A0329-7F7B-4543-B682-6495C18D5DD4}"/>
                </a:ext>
              </a:extLst>
            </p:cNvPr>
            <p:cNvSpPr/>
            <p:nvPr/>
          </p:nvSpPr>
          <p:spPr>
            <a:xfrm>
              <a:off x="4875415" y="1783080"/>
              <a:ext cx="847898" cy="4775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E2761"/>
                  </a:solidFill>
                  <a:latin typeface="Arial" panose="020B0604020202020204" pitchFamily="34" charset="0"/>
                  <a:ea typeface="Times New Roman" pitchFamily="34" charset="-122"/>
                  <a:cs typeface="Arial" panose="020B0604020202020204" pitchFamily="34" charset="0"/>
                </a:rPr>
                <a:t>Aug</a:t>
              </a:r>
              <a:endParaRPr lang="en-US" sz="13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Text 6">
              <a:extLst>
                <a:ext uri="{FF2B5EF4-FFF2-40B4-BE49-F238E27FC236}">
                  <a16:creationId xmlns:a16="http://schemas.microsoft.com/office/drawing/2014/main" id="{349374E3-CB66-4135-AD8C-FD579BF3DEB1}"/>
                </a:ext>
              </a:extLst>
            </p:cNvPr>
            <p:cNvSpPr/>
            <p:nvPr/>
          </p:nvSpPr>
          <p:spPr>
            <a:xfrm>
              <a:off x="5723313" y="1783080"/>
              <a:ext cx="847898" cy="4775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E2761"/>
                  </a:solidFill>
                  <a:latin typeface="Arial" panose="020B0604020202020204" pitchFamily="34" charset="0"/>
                  <a:ea typeface="Times New Roman" pitchFamily="34" charset="-122"/>
                  <a:cs typeface="Arial" panose="020B0604020202020204" pitchFamily="34" charset="0"/>
                </a:rPr>
                <a:t>Sep</a:t>
              </a:r>
              <a:endParaRPr lang="en-US" sz="13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Text 7">
              <a:extLst>
                <a:ext uri="{FF2B5EF4-FFF2-40B4-BE49-F238E27FC236}">
                  <a16:creationId xmlns:a16="http://schemas.microsoft.com/office/drawing/2014/main" id="{49191079-D62C-477C-8A5D-C2E9E21D2F5E}"/>
                </a:ext>
              </a:extLst>
            </p:cNvPr>
            <p:cNvSpPr/>
            <p:nvPr/>
          </p:nvSpPr>
          <p:spPr>
            <a:xfrm>
              <a:off x="6571211" y="1783080"/>
              <a:ext cx="847898" cy="4775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E2761"/>
                  </a:solidFill>
                  <a:latin typeface="Arial" panose="020B0604020202020204" pitchFamily="34" charset="0"/>
                  <a:ea typeface="Times New Roman" pitchFamily="34" charset="-122"/>
                  <a:cs typeface="Arial" panose="020B0604020202020204" pitchFamily="34" charset="0"/>
                </a:rPr>
                <a:t>Oct</a:t>
              </a:r>
              <a:endParaRPr lang="en-US" sz="13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Text 8">
              <a:extLst>
                <a:ext uri="{FF2B5EF4-FFF2-40B4-BE49-F238E27FC236}">
                  <a16:creationId xmlns:a16="http://schemas.microsoft.com/office/drawing/2014/main" id="{52667220-5098-461B-AD54-32595E6461BB}"/>
                </a:ext>
              </a:extLst>
            </p:cNvPr>
            <p:cNvSpPr/>
            <p:nvPr/>
          </p:nvSpPr>
          <p:spPr>
            <a:xfrm>
              <a:off x="7419109" y="1783080"/>
              <a:ext cx="847898" cy="4775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E2761"/>
                  </a:solidFill>
                  <a:latin typeface="Arial" panose="020B0604020202020204" pitchFamily="34" charset="0"/>
                  <a:ea typeface="Times New Roman" pitchFamily="34" charset="-122"/>
                  <a:cs typeface="Arial" panose="020B0604020202020204" pitchFamily="34" charset="0"/>
                </a:rPr>
                <a:t>Nov</a:t>
              </a:r>
              <a:endParaRPr lang="en-US" sz="13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Text 9">
              <a:extLst>
                <a:ext uri="{FF2B5EF4-FFF2-40B4-BE49-F238E27FC236}">
                  <a16:creationId xmlns:a16="http://schemas.microsoft.com/office/drawing/2014/main" id="{A92BD88E-C237-4BC0-9C40-C2CDD1244C31}"/>
                </a:ext>
              </a:extLst>
            </p:cNvPr>
            <p:cNvSpPr/>
            <p:nvPr/>
          </p:nvSpPr>
          <p:spPr>
            <a:xfrm>
              <a:off x="8267007" y="1783080"/>
              <a:ext cx="847898" cy="4775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E2761"/>
                  </a:solidFill>
                  <a:latin typeface="Arial" panose="020B0604020202020204" pitchFamily="34" charset="0"/>
                  <a:ea typeface="Times New Roman" pitchFamily="34" charset="-122"/>
                  <a:cs typeface="Arial" panose="020B0604020202020204" pitchFamily="34" charset="0"/>
                </a:rPr>
                <a:t>Dec</a:t>
              </a:r>
              <a:endParaRPr lang="en-US" sz="13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Text 10">
              <a:extLst>
                <a:ext uri="{FF2B5EF4-FFF2-40B4-BE49-F238E27FC236}">
                  <a16:creationId xmlns:a16="http://schemas.microsoft.com/office/drawing/2014/main" id="{5CA56B89-51A4-4CF8-8EC5-3B17991CEA5B}"/>
                </a:ext>
              </a:extLst>
            </p:cNvPr>
            <p:cNvSpPr/>
            <p:nvPr/>
          </p:nvSpPr>
          <p:spPr>
            <a:xfrm>
              <a:off x="9114905" y="1783080"/>
              <a:ext cx="847898" cy="4775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E2761"/>
                  </a:solidFill>
                  <a:latin typeface="Arial" panose="020B0604020202020204" pitchFamily="34" charset="0"/>
                  <a:ea typeface="Times New Roman" pitchFamily="34" charset="-122"/>
                  <a:cs typeface="Arial" panose="020B0604020202020204" pitchFamily="34" charset="0"/>
                </a:rPr>
                <a:t>Jan</a:t>
              </a:r>
              <a:endParaRPr lang="en-US" sz="13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Text 11">
              <a:extLst>
                <a:ext uri="{FF2B5EF4-FFF2-40B4-BE49-F238E27FC236}">
                  <a16:creationId xmlns:a16="http://schemas.microsoft.com/office/drawing/2014/main" id="{5B16AD5D-2D8B-4B9E-844E-64A81C5DD735}"/>
                </a:ext>
              </a:extLst>
            </p:cNvPr>
            <p:cNvSpPr/>
            <p:nvPr/>
          </p:nvSpPr>
          <p:spPr>
            <a:xfrm>
              <a:off x="9962804" y="1783080"/>
              <a:ext cx="847898" cy="4775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E2761"/>
                  </a:solidFill>
                  <a:latin typeface="Arial" panose="020B0604020202020204" pitchFamily="34" charset="0"/>
                  <a:ea typeface="Times New Roman" pitchFamily="34" charset="-122"/>
                  <a:cs typeface="Arial" panose="020B0604020202020204" pitchFamily="34" charset="0"/>
                </a:rPr>
                <a:t>Feb</a:t>
              </a:r>
              <a:endParaRPr lang="en-US" sz="13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Text 12">
              <a:extLst>
                <a:ext uri="{FF2B5EF4-FFF2-40B4-BE49-F238E27FC236}">
                  <a16:creationId xmlns:a16="http://schemas.microsoft.com/office/drawing/2014/main" id="{17620DA3-3CC6-4FA1-904C-7902AF8D05B6}"/>
                </a:ext>
              </a:extLst>
            </p:cNvPr>
            <p:cNvSpPr/>
            <p:nvPr/>
          </p:nvSpPr>
          <p:spPr>
            <a:xfrm>
              <a:off x="10810702" y="1783080"/>
              <a:ext cx="847898" cy="4775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E2761"/>
                  </a:solidFill>
                  <a:latin typeface="Arial" panose="020B0604020202020204" pitchFamily="34" charset="0"/>
                  <a:ea typeface="Times New Roman" pitchFamily="34" charset="-122"/>
                  <a:cs typeface="Arial" panose="020B0604020202020204" pitchFamily="34" charset="0"/>
                </a:rPr>
                <a:t>Mar</a:t>
              </a:r>
              <a:endParaRPr lang="en-US" sz="13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Shape 13">
              <a:extLst>
                <a:ext uri="{FF2B5EF4-FFF2-40B4-BE49-F238E27FC236}">
                  <a16:creationId xmlns:a16="http://schemas.microsoft.com/office/drawing/2014/main" id="{307A33F3-038C-494B-9F65-7E09020B0A80}"/>
                </a:ext>
              </a:extLst>
            </p:cNvPr>
            <p:cNvSpPr/>
            <p:nvPr/>
          </p:nvSpPr>
          <p:spPr>
            <a:xfrm>
              <a:off x="2331720" y="2260600"/>
              <a:ext cx="932688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" name="Text 14">
              <a:extLst>
                <a:ext uri="{FF2B5EF4-FFF2-40B4-BE49-F238E27FC236}">
                  <a16:creationId xmlns:a16="http://schemas.microsoft.com/office/drawing/2014/main" id="{F3802409-BCB2-47AD-B8C2-2AF00CB618B0}"/>
                </a:ext>
              </a:extLst>
            </p:cNvPr>
            <p:cNvSpPr/>
            <p:nvPr/>
          </p:nvSpPr>
          <p:spPr>
            <a:xfrm>
              <a:off x="548640" y="2260600"/>
              <a:ext cx="1691640" cy="477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50" b="1" dirty="0">
                  <a:solidFill>
                    <a:srgbClr val="1B1F3B"/>
                  </a:solidFill>
                  <a:latin typeface="Arial" panose="020B0604020202020204" pitchFamily="34" charset="0"/>
                  <a:ea typeface="Times New Roman" pitchFamily="34" charset="-122"/>
                  <a:cs typeface="Arial" panose="020B0604020202020204" pitchFamily="34" charset="0"/>
                </a:rPr>
                <a:t>Documentation</a:t>
              </a:r>
              <a:endParaRPr lang="en-US" sz="14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Shape 15">
              <a:extLst>
                <a:ext uri="{FF2B5EF4-FFF2-40B4-BE49-F238E27FC236}">
                  <a16:creationId xmlns:a16="http://schemas.microsoft.com/office/drawing/2014/main" id="{5F5FF667-3E7D-4BDB-8BCA-1BDDE434CDD2}"/>
                </a:ext>
              </a:extLst>
            </p:cNvPr>
            <p:cNvSpPr/>
            <p:nvPr/>
          </p:nvSpPr>
          <p:spPr>
            <a:xfrm>
              <a:off x="2331720" y="2260600"/>
              <a:ext cx="9326880" cy="4775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Shape 16">
              <a:extLst>
                <a:ext uri="{FF2B5EF4-FFF2-40B4-BE49-F238E27FC236}">
                  <a16:creationId xmlns:a16="http://schemas.microsoft.com/office/drawing/2014/main" id="{60B2B747-3938-4882-BBC8-A97C7F23B790}"/>
                </a:ext>
              </a:extLst>
            </p:cNvPr>
            <p:cNvSpPr/>
            <p:nvPr/>
          </p:nvSpPr>
          <p:spPr>
            <a:xfrm>
              <a:off x="2359152" y="2346554"/>
              <a:ext cx="9272016" cy="305613"/>
            </a:xfrm>
            <a:prstGeom prst="roundRect">
              <a:avLst>
                <a:gd name="adj" fmla="val 11968"/>
              </a:avLst>
            </a:prstGeom>
            <a:solidFill>
              <a:schemeClr val="tx1"/>
            </a:solidFill>
            <a:ln/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Text 17">
              <a:extLst>
                <a:ext uri="{FF2B5EF4-FFF2-40B4-BE49-F238E27FC236}">
                  <a16:creationId xmlns:a16="http://schemas.microsoft.com/office/drawing/2014/main" id="{D116E166-5E14-4AC8-B8B5-8A55DBB31B8B}"/>
                </a:ext>
              </a:extLst>
            </p:cNvPr>
            <p:cNvSpPr/>
            <p:nvPr/>
          </p:nvSpPr>
          <p:spPr>
            <a:xfrm>
              <a:off x="548640" y="2738120"/>
              <a:ext cx="1691640" cy="477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50" b="1" dirty="0">
                  <a:solidFill>
                    <a:srgbClr val="1B1F3B"/>
                  </a:solidFill>
                  <a:latin typeface="Arial" panose="020B0604020202020204" pitchFamily="34" charset="0"/>
                  <a:ea typeface="Times New Roman" pitchFamily="34" charset="-122"/>
                  <a:cs typeface="Arial" panose="020B0604020202020204" pitchFamily="34" charset="0"/>
                </a:rPr>
                <a:t>Planning</a:t>
              </a:r>
              <a:endParaRPr lang="en-US" sz="14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Shape 18">
              <a:extLst>
                <a:ext uri="{FF2B5EF4-FFF2-40B4-BE49-F238E27FC236}">
                  <a16:creationId xmlns:a16="http://schemas.microsoft.com/office/drawing/2014/main" id="{A5E0B0C0-9D94-49E6-A8D6-4FEFA9864563}"/>
                </a:ext>
              </a:extLst>
            </p:cNvPr>
            <p:cNvSpPr/>
            <p:nvPr/>
          </p:nvSpPr>
          <p:spPr>
            <a:xfrm>
              <a:off x="2359152" y="2824074"/>
              <a:ext cx="1640932" cy="305613"/>
            </a:xfrm>
            <a:prstGeom prst="roundRect">
              <a:avLst>
                <a:gd name="adj" fmla="val 11968"/>
              </a:avLst>
            </a:prstGeom>
            <a:solidFill>
              <a:schemeClr val="tx1"/>
            </a:solidFill>
            <a:ln/>
          </p:spPr>
          <p:txBody>
            <a:bodyPr/>
            <a:lstStyle/>
            <a:p>
              <a:endParaRPr lang="en-US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Text 19">
              <a:extLst>
                <a:ext uri="{FF2B5EF4-FFF2-40B4-BE49-F238E27FC236}">
                  <a16:creationId xmlns:a16="http://schemas.microsoft.com/office/drawing/2014/main" id="{34A44F9E-0DF9-4730-8368-A78261D6E1D1}"/>
                </a:ext>
              </a:extLst>
            </p:cNvPr>
            <p:cNvSpPr/>
            <p:nvPr/>
          </p:nvSpPr>
          <p:spPr>
            <a:xfrm>
              <a:off x="548640" y="3215640"/>
              <a:ext cx="1691640" cy="477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50" b="1" dirty="0">
                  <a:solidFill>
                    <a:srgbClr val="1B1F3B"/>
                  </a:solidFill>
                  <a:latin typeface="Arial" panose="020B0604020202020204" pitchFamily="34" charset="0"/>
                  <a:ea typeface="Times New Roman" pitchFamily="34" charset="-122"/>
                  <a:cs typeface="Arial" panose="020B0604020202020204" pitchFamily="34" charset="0"/>
                </a:rPr>
                <a:t>Design</a:t>
              </a:r>
              <a:endParaRPr lang="en-US" sz="14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" name="Shape 20">
              <a:extLst>
                <a:ext uri="{FF2B5EF4-FFF2-40B4-BE49-F238E27FC236}">
                  <a16:creationId xmlns:a16="http://schemas.microsoft.com/office/drawing/2014/main" id="{EF4073DC-6E73-4CDE-93E9-B36B5E48B1DA}"/>
                </a:ext>
              </a:extLst>
            </p:cNvPr>
            <p:cNvSpPr/>
            <p:nvPr/>
          </p:nvSpPr>
          <p:spPr>
            <a:xfrm>
              <a:off x="2331720" y="3215640"/>
              <a:ext cx="9326880" cy="4775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Shape 21">
              <a:extLst>
                <a:ext uri="{FF2B5EF4-FFF2-40B4-BE49-F238E27FC236}">
                  <a16:creationId xmlns:a16="http://schemas.microsoft.com/office/drawing/2014/main" id="{97234A71-B43B-4516-BA37-05B1A1F3BE15}"/>
                </a:ext>
              </a:extLst>
            </p:cNvPr>
            <p:cNvSpPr/>
            <p:nvPr/>
          </p:nvSpPr>
          <p:spPr>
            <a:xfrm>
              <a:off x="3207050" y="3301594"/>
              <a:ext cx="2488831" cy="305613"/>
            </a:xfrm>
            <a:prstGeom prst="roundRect">
              <a:avLst>
                <a:gd name="adj" fmla="val 11968"/>
              </a:avLst>
            </a:prstGeom>
            <a:solidFill>
              <a:schemeClr val="tx1"/>
            </a:solidFill>
            <a:ln/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" name="Text 22">
              <a:extLst>
                <a:ext uri="{FF2B5EF4-FFF2-40B4-BE49-F238E27FC236}">
                  <a16:creationId xmlns:a16="http://schemas.microsoft.com/office/drawing/2014/main" id="{22C2CE70-7E2A-44B0-883E-71EC9C5D1E7F}"/>
                </a:ext>
              </a:extLst>
            </p:cNvPr>
            <p:cNvSpPr/>
            <p:nvPr/>
          </p:nvSpPr>
          <p:spPr>
            <a:xfrm>
              <a:off x="548640" y="3693160"/>
              <a:ext cx="1691640" cy="477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50" b="1" dirty="0">
                  <a:solidFill>
                    <a:srgbClr val="1B1F3B"/>
                  </a:solidFill>
                  <a:latin typeface="Arial" panose="020B0604020202020204" pitchFamily="34" charset="0"/>
                  <a:ea typeface="Times New Roman" pitchFamily="34" charset="-122"/>
                  <a:cs typeface="Arial" panose="020B0604020202020204" pitchFamily="34" charset="0"/>
                </a:rPr>
                <a:t>Build</a:t>
              </a:r>
              <a:endParaRPr lang="en-US" sz="14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Shape 23">
              <a:extLst>
                <a:ext uri="{FF2B5EF4-FFF2-40B4-BE49-F238E27FC236}">
                  <a16:creationId xmlns:a16="http://schemas.microsoft.com/office/drawing/2014/main" id="{0A803BAC-AA15-4E1B-B4C7-38F8F53D1837}"/>
                </a:ext>
              </a:extLst>
            </p:cNvPr>
            <p:cNvSpPr/>
            <p:nvPr/>
          </p:nvSpPr>
          <p:spPr>
            <a:xfrm>
              <a:off x="4902847" y="3779114"/>
              <a:ext cx="3336729" cy="305613"/>
            </a:xfrm>
            <a:prstGeom prst="roundRect">
              <a:avLst>
                <a:gd name="adj" fmla="val 11968"/>
              </a:avLst>
            </a:prstGeom>
            <a:solidFill>
              <a:schemeClr val="tx1"/>
            </a:solidFill>
            <a:ln/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Text 24">
              <a:extLst>
                <a:ext uri="{FF2B5EF4-FFF2-40B4-BE49-F238E27FC236}">
                  <a16:creationId xmlns:a16="http://schemas.microsoft.com/office/drawing/2014/main" id="{37EAF366-9116-4E67-8B53-FFE46843F8A7}"/>
                </a:ext>
              </a:extLst>
            </p:cNvPr>
            <p:cNvSpPr/>
            <p:nvPr/>
          </p:nvSpPr>
          <p:spPr>
            <a:xfrm>
              <a:off x="548640" y="4170680"/>
              <a:ext cx="1691640" cy="477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50" b="1" dirty="0">
                  <a:solidFill>
                    <a:srgbClr val="1B1F3B"/>
                  </a:solidFill>
                  <a:latin typeface="Arial" panose="020B0604020202020204" pitchFamily="34" charset="0"/>
                  <a:ea typeface="Times New Roman" pitchFamily="34" charset="-122"/>
                  <a:cs typeface="Arial" panose="020B0604020202020204" pitchFamily="34" charset="0"/>
                </a:rPr>
                <a:t>Test</a:t>
              </a:r>
              <a:endParaRPr lang="en-US" sz="14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" name="Shape 25">
              <a:extLst>
                <a:ext uri="{FF2B5EF4-FFF2-40B4-BE49-F238E27FC236}">
                  <a16:creationId xmlns:a16="http://schemas.microsoft.com/office/drawing/2014/main" id="{5D19BDCD-AA1E-4F51-A3A0-91E1F4801A83}"/>
                </a:ext>
              </a:extLst>
            </p:cNvPr>
            <p:cNvSpPr/>
            <p:nvPr/>
          </p:nvSpPr>
          <p:spPr>
            <a:xfrm>
              <a:off x="2331720" y="4170680"/>
              <a:ext cx="9326880" cy="4775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" name="Shape 26">
              <a:extLst>
                <a:ext uri="{FF2B5EF4-FFF2-40B4-BE49-F238E27FC236}">
                  <a16:creationId xmlns:a16="http://schemas.microsoft.com/office/drawing/2014/main" id="{037CA6AF-5848-4D6A-87E3-C8C84C0C011E}"/>
                </a:ext>
              </a:extLst>
            </p:cNvPr>
            <p:cNvSpPr/>
            <p:nvPr/>
          </p:nvSpPr>
          <p:spPr>
            <a:xfrm>
              <a:off x="7446541" y="4256634"/>
              <a:ext cx="2488831" cy="305613"/>
            </a:xfrm>
            <a:prstGeom prst="roundRect">
              <a:avLst>
                <a:gd name="adj" fmla="val 11968"/>
              </a:avLst>
            </a:prstGeom>
            <a:solidFill>
              <a:schemeClr val="tx1"/>
            </a:solidFill>
            <a:ln/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" name="Text 27">
              <a:extLst>
                <a:ext uri="{FF2B5EF4-FFF2-40B4-BE49-F238E27FC236}">
                  <a16:creationId xmlns:a16="http://schemas.microsoft.com/office/drawing/2014/main" id="{3F23712A-AA9B-463D-84CE-F204CD08F054}"/>
                </a:ext>
              </a:extLst>
            </p:cNvPr>
            <p:cNvSpPr/>
            <p:nvPr/>
          </p:nvSpPr>
          <p:spPr>
            <a:xfrm>
              <a:off x="548640" y="4648200"/>
              <a:ext cx="1691640" cy="477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50" b="1" dirty="0">
                  <a:solidFill>
                    <a:srgbClr val="1B1F3B"/>
                  </a:solidFill>
                  <a:latin typeface="Arial" panose="020B0604020202020204" pitchFamily="34" charset="0"/>
                  <a:ea typeface="Times New Roman" pitchFamily="34" charset="-122"/>
                  <a:cs typeface="Arial" panose="020B0604020202020204" pitchFamily="34" charset="0"/>
                </a:rPr>
                <a:t>Analyze</a:t>
              </a:r>
              <a:endParaRPr lang="en-US" sz="14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Shape 28">
              <a:extLst>
                <a:ext uri="{FF2B5EF4-FFF2-40B4-BE49-F238E27FC236}">
                  <a16:creationId xmlns:a16="http://schemas.microsoft.com/office/drawing/2014/main" id="{E5B58E78-1EB4-486C-BEFE-2EE13D19E524}"/>
                </a:ext>
              </a:extLst>
            </p:cNvPr>
            <p:cNvSpPr/>
            <p:nvPr/>
          </p:nvSpPr>
          <p:spPr>
            <a:xfrm>
              <a:off x="9142337" y="4734154"/>
              <a:ext cx="1640932" cy="305613"/>
            </a:xfrm>
            <a:prstGeom prst="roundRect">
              <a:avLst>
                <a:gd name="adj" fmla="val 11968"/>
              </a:avLst>
            </a:prstGeom>
            <a:solidFill>
              <a:schemeClr val="tx1"/>
            </a:solidFill>
            <a:ln/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Text 29">
              <a:extLst>
                <a:ext uri="{FF2B5EF4-FFF2-40B4-BE49-F238E27FC236}">
                  <a16:creationId xmlns:a16="http://schemas.microsoft.com/office/drawing/2014/main" id="{F6FF84F9-9A6D-4E61-BDD6-0394AF2AF49D}"/>
                </a:ext>
              </a:extLst>
            </p:cNvPr>
            <p:cNvSpPr/>
            <p:nvPr/>
          </p:nvSpPr>
          <p:spPr>
            <a:xfrm>
              <a:off x="548640" y="5125720"/>
              <a:ext cx="1691640" cy="477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50" b="1" dirty="0">
                  <a:solidFill>
                    <a:srgbClr val="1B1F3B"/>
                  </a:solidFill>
                  <a:latin typeface="Arial" panose="020B0604020202020204" pitchFamily="34" charset="0"/>
                  <a:ea typeface="Times New Roman" pitchFamily="34" charset="-122"/>
                  <a:cs typeface="Arial" panose="020B0604020202020204" pitchFamily="34" charset="0"/>
                </a:rPr>
                <a:t>Review</a:t>
              </a:r>
              <a:endParaRPr lang="en-US" sz="14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Shape 30">
              <a:extLst>
                <a:ext uri="{FF2B5EF4-FFF2-40B4-BE49-F238E27FC236}">
                  <a16:creationId xmlns:a16="http://schemas.microsoft.com/office/drawing/2014/main" id="{929B0BC9-7BE9-42DE-8A10-4E1ECD4D166E}"/>
                </a:ext>
              </a:extLst>
            </p:cNvPr>
            <p:cNvSpPr/>
            <p:nvPr/>
          </p:nvSpPr>
          <p:spPr>
            <a:xfrm>
              <a:off x="2331720" y="5125720"/>
              <a:ext cx="9326880" cy="4775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Shape 31">
              <a:extLst>
                <a:ext uri="{FF2B5EF4-FFF2-40B4-BE49-F238E27FC236}">
                  <a16:creationId xmlns:a16="http://schemas.microsoft.com/office/drawing/2014/main" id="{5592EC5F-05AE-4335-BCA1-83EBCE38468A}"/>
                </a:ext>
              </a:extLst>
            </p:cNvPr>
            <p:cNvSpPr/>
            <p:nvPr/>
          </p:nvSpPr>
          <p:spPr>
            <a:xfrm>
              <a:off x="9990236" y="5211674"/>
              <a:ext cx="1640932" cy="305613"/>
            </a:xfrm>
            <a:prstGeom prst="roundRect">
              <a:avLst>
                <a:gd name="adj" fmla="val 11968"/>
              </a:avLst>
            </a:prstGeom>
            <a:solidFill>
              <a:schemeClr val="tx1"/>
            </a:solidFill>
            <a:ln/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" name="Text 32">
              <a:extLst>
                <a:ext uri="{FF2B5EF4-FFF2-40B4-BE49-F238E27FC236}">
                  <a16:creationId xmlns:a16="http://schemas.microsoft.com/office/drawing/2014/main" id="{4B4C8664-FA67-49CF-9E95-DB58417D61B3}"/>
                </a:ext>
              </a:extLst>
            </p:cNvPr>
            <p:cNvSpPr/>
            <p:nvPr/>
          </p:nvSpPr>
          <p:spPr>
            <a:xfrm>
              <a:off x="548640" y="5603240"/>
              <a:ext cx="1691640" cy="477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50" b="1" dirty="0">
                  <a:solidFill>
                    <a:srgbClr val="1B1F3B"/>
                  </a:solidFill>
                  <a:latin typeface="Arial" panose="020B0604020202020204" pitchFamily="34" charset="0"/>
                  <a:ea typeface="Times New Roman" pitchFamily="34" charset="-122"/>
                  <a:cs typeface="Arial" panose="020B0604020202020204" pitchFamily="34" charset="0"/>
                </a:rPr>
                <a:t>Launch</a:t>
              </a:r>
              <a:endParaRPr lang="en-US" sz="14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" name="Shape 33">
              <a:extLst>
                <a:ext uri="{FF2B5EF4-FFF2-40B4-BE49-F238E27FC236}">
                  <a16:creationId xmlns:a16="http://schemas.microsoft.com/office/drawing/2014/main" id="{19D8532D-BE78-448E-BFFC-8F22F3D53D9A}"/>
                </a:ext>
              </a:extLst>
            </p:cNvPr>
            <p:cNvSpPr/>
            <p:nvPr/>
          </p:nvSpPr>
          <p:spPr>
            <a:xfrm>
              <a:off x="10838134" y="5689194"/>
              <a:ext cx="793034" cy="305613"/>
            </a:xfrm>
            <a:prstGeom prst="roundRect">
              <a:avLst>
                <a:gd name="adj" fmla="val 11968"/>
              </a:avLst>
            </a:prstGeom>
            <a:solidFill>
              <a:schemeClr val="tx1"/>
            </a:solidFill>
            <a:ln/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" name="Shape 34">
              <a:extLst>
                <a:ext uri="{FF2B5EF4-FFF2-40B4-BE49-F238E27FC236}">
                  <a16:creationId xmlns:a16="http://schemas.microsoft.com/office/drawing/2014/main" id="{FFF53B67-F21C-44BC-98C5-83604AC7A8CB}"/>
                </a:ext>
              </a:extLst>
            </p:cNvPr>
            <p:cNvSpPr/>
            <p:nvPr/>
          </p:nvSpPr>
          <p:spPr>
            <a:xfrm>
              <a:off x="2331720" y="1783080"/>
              <a:ext cx="0" cy="4297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" name="Shape 35">
              <a:extLst>
                <a:ext uri="{FF2B5EF4-FFF2-40B4-BE49-F238E27FC236}">
                  <a16:creationId xmlns:a16="http://schemas.microsoft.com/office/drawing/2014/main" id="{5ECEDA25-849B-4D46-AFC2-2CCED8128072}"/>
                </a:ext>
              </a:extLst>
            </p:cNvPr>
            <p:cNvSpPr/>
            <p:nvPr/>
          </p:nvSpPr>
          <p:spPr>
            <a:xfrm>
              <a:off x="3179618" y="1783080"/>
              <a:ext cx="0" cy="4297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" name="Shape 36">
              <a:extLst>
                <a:ext uri="{FF2B5EF4-FFF2-40B4-BE49-F238E27FC236}">
                  <a16:creationId xmlns:a16="http://schemas.microsoft.com/office/drawing/2014/main" id="{C7976BD7-8FCA-4791-ADED-31EED2EB3B4B}"/>
                </a:ext>
              </a:extLst>
            </p:cNvPr>
            <p:cNvSpPr/>
            <p:nvPr/>
          </p:nvSpPr>
          <p:spPr>
            <a:xfrm>
              <a:off x="4027516" y="1783080"/>
              <a:ext cx="0" cy="4297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" name="Shape 37">
              <a:extLst>
                <a:ext uri="{FF2B5EF4-FFF2-40B4-BE49-F238E27FC236}">
                  <a16:creationId xmlns:a16="http://schemas.microsoft.com/office/drawing/2014/main" id="{FF29F01D-8724-4770-927A-371DAC4CFDF8}"/>
                </a:ext>
              </a:extLst>
            </p:cNvPr>
            <p:cNvSpPr/>
            <p:nvPr/>
          </p:nvSpPr>
          <p:spPr>
            <a:xfrm>
              <a:off x="4875415" y="1783080"/>
              <a:ext cx="0" cy="4297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" name="Shape 38">
              <a:extLst>
                <a:ext uri="{FF2B5EF4-FFF2-40B4-BE49-F238E27FC236}">
                  <a16:creationId xmlns:a16="http://schemas.microsoft.com/office/drawing/2014/main" id="{F2ECEA6C-2F4A-466F-9A37-20CB47CE70CA}"/>
                </a:ext>
              </a:extLst>
            </p:cNvPr>
            <p:cNvSpPr/>
            <p:nvPr/>
          </p:nvSpPr>
          <p:spPr>
            <a:xfrm>
              <a:off x="5723313" y="1783080"/>
              <a:ext cx="0" cy="4297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" name="Shape 39">
              <a:extLst>
                <a:ext uri="{FF2B5EF4-FFF2-40B4-BE49-F238E27FC236}">
                  <a16:creationId xmlns:a16="http://schemas.microsoft.com/office/drawing/2014/main" id="{7AA94D99-EAE3-4F34-8FF5-EEA3958C3200}"/>
                </a:ext>
              </a:extLst>
            </p:cNvPr>
            <p:cNvSpPr/>
            <p:nvPr/>
          </p:nvSpPr>
          <p:spPr>
            <a:xfrm>
              <a:off x="6571211" y="1783080"/>
              <a:ext cx="0" cy="4297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Shape 40">
              <a:extLst>
                <a:ext uri="{FF2B5EF4-FFF2-40B4-BE49-F238E27FC236}">
                  <a16:creationId xmlns:a16="http://schemas.microsoft.com/office/drawing/2014/main" id="{AF120681-BEC5-446D-A000-BE1F2D0C6874}"/>
                </a:ext>
              </a:extLst>
            </p:cNvPr>
            <p:cNvSpPr/>
            <p:nvPr/>
          </p:nvSpPr>
          <p:spPr>
            <a:xfrm>
              <a:off x="7419109" y="1783080"/>
              <a:ext cx="0" cy="4297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Shape 41">
              <a:extLst>
                <a:ext uri="{FF2B5EF4-FFF2-40B4-BE49-F238E27FC236}">
                  <a16:creationId xmlns:a16="http://schemas.microsoft.com/office/drawing/2014/main" id="{340AD074-6B0F-413A-B2C9-6739A55415D5}"/>
                </a:ext>
              </a:extLst>
            </p:cNvPr>
            <p:cNvSpPr/>
            <p:nvPr/>
          </p:nvSpPr>
          <p:spPr>
            <a:xfrm>
              <a:off x="8267007" y="1783080"/>
              <a:ext cx="0" cy="4297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Shape 42">
              <a:extLst>
                <a:ext uri="{FF2B5EF4-FFF2-40B4-BE49-F238E27FC236}">
                  <a16:creationId xmlns:a16="http://schemas.microsoft.com/office/drawing/2014/main" id="{1CCBCB10-7005-47A4-8340-4BA1BC5ABB46}"/>
                </a:ext>
              </a:extLst>
            </p:cNvPr>
            <p:cNvSpPr/>
            <p:nvPr/>
          </p:nvSpPr>
          <p:spPr>
            <a:xfrm>
              <a:off x="9114905" y="1783080"/>
              <a:ext cx="0" cy="4297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Shape 43">
              <a:extLst>
                <a:ext uri="{FF2B5EF4-FFF2-40B4-BE49-F238E27FC236}">
                  <a16:creationId xmlns:a16="http://schemas.microsoft.com/office/drawing/2014/main" id="{CA6FBE1A-6A95-416F-A2A6-115E1C8C7ACF}"/>
                </a:ext>
              </a:extLst>
            </p:cNvPr>
            <p:cNvSpPr/>
            <p:nvPr/>
          </p:nvSpPr>
          <p:spPr>
            <a:xfrm>
              <a:off x="9962804" y="1783080"/>
              <a:ext cx="0" cy="4297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Shape 44">
              <a:extLst>
                <a:ext uri="{FF2B5EF4-FFF2-40B4-BE49-F238E27FC236}">
                  <a16:creationId xmlns:a16="http://schemas.microsoft.com/office/drawing/2014/main" id="{E9370F4C-9B34-40A4-9090-A1DBE93F41C4}"/>
                </a:ext>
              </a:extLst>
            </p:cNvPr>
            <p:cNvSpPr/>
            <p:nvPr/>
          </p:nvSpPr>
          <p:spPr>
            <a:xfrm>
              <a:off x="10810702" y="1783080"/>
              <a:ext cx="0" cy="4297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Shape 45">
              <a:extLst>
                <a:ext uri="{FF2B5EF4-FFF2-40B4-BE49-F238E27FC236}">
                  <a16:creationId xmlns:a16="http://schemas.microsoft.com/office/drawing/2014/main" id="{A40B7015-2586-4C4F-AC7B-F2CF6FF7E95E}"/>
                </a:ext>
              </a:extLst>
            </p:cNvPr>
            <p:cNvSpPr/>
            <p:nvPr/>
          </p:nvSpPr>
          <p:spPr>
            <a:xfrm>
              <a:off x="11658600" y="1783080"/>
              <a:ext cx="0" cy="4297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CA59A652-1731-46BD-BDC4-A08952A17214}"/>
                </a:ext>
              </a:extLst>
            </p:cNvPr>
            <p:cNvCxnSpPr>
              <a:stCxn id="84" idx="1"/>
            </p:cNvCxnSpPr>
            <p:nvPr/>
          </p:nvCxnSpPr>
          <p:spPr>
            <a:xfrm>
              <a:off x="2331721" y="6080760"/>
              <a:ext cx="932687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8" name="Text 35">
            <a:extLst>
              <a:ext uri="{FF2B5EF4-FFF2-40B4-BE49-F238E27FC236}">
                <a16:creationId xmlns:a16="http://schemas.microsoft.com/office/drawing/2014/main" id="{BB9544F7-1337-4D4E-A695-EA6980280F9A}"/>
              </a:ext>
            </a:extLst>
          </p:cNvPr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July 13, 2026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99" name="Text 37">
            <a:extLst>
              <a:ext uri="{FF2B5EF4-FFF2-40B4-BE49-F238E27FC236}">
                <a16:creationId xmlns:a16="http://schemas.microsoft.com/office/drawing/2014/main" id="{E70FE45E-044B-41CD-AB71-48F8AB8BD854}"/>
              </a:ext>
            </a:extLst>
          </p:cNvPr>
          <p:cNvSpPr/>
          <p:nvPr/>
        </p:nvSpPr>
        <p:spPr>
          <a:xfrm>
            <a:off x="1100297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1C79C3B3-D123-4A91-954C-46ABC95524DB}" type="slidenum"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26</a:t>
            </a:fld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100" name="Text 1">
            <a:extLst>
              <a:ext uri="{FF2B5EF4-FFF2-40B4-BE49-F238E27FC236}">
                <a16:creationId xmlns:a16="http://schemas.microsoft.com/office/drawing/2014/main" id="{C6D0C6BB-88BD-4954-97E2-0424ECC8CE46}"/>
              </a:ext>
            </a:extLst>
          </p:cNvPr>
          <p:cNvSpPr/>
          <p:nvPr/>
        </p:nvSpPr>
        <p:spPr>
          <a:xfrm>
            <a:off x="549661" y="589903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1F3B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Timeline (7th &amp; 8th Semester)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Text 0">
            <a:extLst>
              <a:ext uri="{FF2B5EF4-FFF2-40B4-BE49-F238E27FC236}">
                <a16:creationId xmlns:a16="http://schemas.microsoft.com/office/drawing/2014/main" id="{50D81519-B310-4B56-AAFD-1F19BCFBF96B}"/>
              </a:ext>
            </a:extLst>
          </p:cNvPr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spc="300" dirty="0"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EXPECTED OUTPUT</a:t>
            </a:r>
            <a:endParaRPr lang="en-US" sz="1400" spc="3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80185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640080" y="1645920"/>
            <a:ext cx="5227168" cy="2011680"/>
          </a:xfrm>
          <a:prstGeom prst="roundRect">
            <a:avLst>
              <a:gd name="adj" fmla="val 3636"/>
            </a:avLst>
          </a:prstGeom>
          <a:noFill/>
          <a:ln/>
        </p:spPr>
      </p:sp>
      <p:pic>
        <p:nvPicPr>
          <p:cNvPr id="7" name="Image 0" descr="icons/rocket_white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2411" y="2008251"/>
            <a:ext cx="326898" cy="32689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87452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Extensible Alert Channels</a:t>
            </a:r>
            <a:endParaRPr lang="en-US" sz="1350" dirty="0">
              <a:latin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68680" y="2560320"/>
            <a:ext cx="47699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The Observer-pattern gateway design allows a new alert channel — such as SMS — to be added without modifying the gateway core.</a:t>
            </a:r>
            <a:endParaRPr lang="en-US" sz="1080" dirty="0">
              <a:latin typeface="Arial" panose="020B06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324448" y="1645920"/>
            <a:ext cx="5227168" cy="2011680"/>
          </a:xfrm>
          <a:prstGeom prst="roundRect">
            <a:avLst>
              <a:gd name="adj" fmla="val 3636"/>
            </a:avLst>
          </a:prstGeom>
          <a:noFill/>
          <a:ln/>
        </p:spPr>
      </p:sp>
      <p:sp>
        <p:nvSpPr>
          <p:cNvPr id="11" name="Shape 8"/>
          <p:cNvSpPr/>
          <p:nvPr/>
        </p:nvSpPr>
        <p:spPr>
          <a:xfrm>
            <a:off x="6553048" y="187452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2" name="Image 1" descr="icons/bell_teal.png"/>
          <p:cNvPicPr>
            <a:picLocks noChangeAspect="1"/>
          </p:cNvPicPr>
          <p:nvPr/>
        </p:nvPicPr>
        <p:blipFill>
          <a:blip r:embed="rId5">
            <a:biLevel thresh="75000"/>
          </a:blip>
          <a:stretch>
            <a:fillRect/>
          </a:stretch>
        </p:blipFill>
        <p:spPr>
          <a:xfrm>
            <a:off x="6686779" y="2008251"/>
            <a:ext cx="326898" cy="32689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30288" y="187452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Adaptive Sensitivity Beyond Launch</a:t>
            </a:r>
            <a:endParaRPr lang="en-US" sz="1350" dirty="0">
              <a:latin typeface="Arial" panose="020B0604020202020204" pitchFamily="34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6553048" y="2560320"/>
            <a:ext cx="47699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The Strategy-pattern sensitivity profiles (High / Standard / Sport) already support switching without firmware reflash, enabling configuration for broader deployment contexts.</a:t>
            </a:r>
            <a:endParaRPr lang="en-US" sz="1080" dirty="0">
              <a:latin typeface="Arial" panose="020B0604020202020204" pitchFamily="34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640080" y="3931920"/>
            <a:ext cx="5227168" cy="201168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/>
        </p:spPr>
      </p:sp>
      <p:sp>
        <p:nvSpPr>
          <p:cNvPr id="16" name="Shape 12"/>
          <p:cNvSpPr/>
          <p:nvPr/>
        </p:nvSpPr>
        <p:spPr>
          <a:xfrm>
            <a:off x="868680" y="416052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7" name="Image 2" descr="icons/home_teal.png"/>
          <p:cNvPicPr>
            <a:picLocks noChangeAspect="1"/>
          </p:cNvPicPr>
          <p:nvPr/>
        </p:nvPicPr>
        <p:blipFill>
          <a:blip r:embed="rId6">
            <a:biLevel thresh="75000"/>
          </a:blip>
          <a:stretch>
            <a:fillRect/>
          </a:stretch>
        </p:blipFill>
        <p:spPr>
          <a:xfrm>
            <a:off x="1002411" y="4294251"/>
            <a:ext cx="326898" cy="32689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45920" y="416052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Broader Regional Deployment</a:t>
            </a:r>
            <a:endParaRPr lang="en-US" sz="1350" dirty="0">
              <a:latin typeface="Arial" panose="020B0604020202020204" pitchFamily="34" charset="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868680" y="4846320"/>
            <a:ext cx="47699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The open-hardware reference design is positioned for low-cost elderly fall monitoring across South Asian care settings beyond Nepal.</a:t>
            </a:r>
            <a:endParaRPr lang="en-US" sz="1080" dirty="0">
              <a:latin typeface="Arial" panose="020B0604020202020204" pitchFamily="34" charset="0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6324448" y="3931920"/>
            <a:ext cx="5227168" cy="201168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/>
        </p:spPr>
      </p:sp>
      <p:sp>
        <p:nvSpPr>
          <p:cNvPr id="21" name="Shape 16"/>
          <p:cNvSpPr/>
          <p:nvPr/>
        </p:nvSpPr>
        <p:spPr>
          <a:xfrm>
            <a:off x="6553048" y="416052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2" name="Image 3" descr="icons/github_teal.png"/>
          <p:cNvPicPr>
            <a:picLocks noChangeAspect="1"/>
          </p:cNvPicPr>
          <p:nvPr/>
        </p:nvPicPr>
        <p:blipFill>
          <a:blip r:embed="rId7">
            <a:biLevel thresh="75000"/>
          </a:blip>
          <a:stretch>
            <a:fillRect/>
          </a:stretch>
        </p:blipFill>
        <p:spPr>
          <a:xfrm>
            <a:off x="6686779" y="4294251"/>
            <a:ext cx="326898" cy="32689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3" name="Text 17"/>
          <p:cNvSpPr/>
          <p:nvPr/>
        </p:nvSpPr>
        <p:spPr>
          <a:xfrm>
            <a:off x="7330288" y="416052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Growing the Open Dataset</a:t>
            </a:r>
            <a:endParaRPr lang="en-US" sz="1350" dirty="0">
              <a:latin typeface="Arial" panose="020B0604020202020204" pitchFamily="34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6553048" y="4846320"/>
            <a:ext cx="47699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Continued public contribution to the Nepal-context IMU dataset and reference design as a resource for further academic research.</a:t>
            </a:r>
            <a:endParaRPr lang="en-US" sz="1080" dirty="0">
              <a:latin typeface="Arial" panose="020B0604020202020204" pitchFamily="34" charset="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July 13, 2026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3809848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Future Enhancements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1100297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1C9FBF3A-B961-4EE3-9847-9EEC68B03294}" type="slidenum"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27</a:t>
            </a:fld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28" name="Text 1">
            <a:extLst>
              <a:ext uri="{FF2B5EF4-FFF2-40B4-BE49-F238E27FC236}">
                <a16:creationId xmlns:a16="http://schemas.microsoft.com/office/drawing/2014/main" id="{AA1D93F4-F3EC-40D1-9D26-299547AE1AFE}"/>
              </a:ext>
            </a:extLst>
          </p:cNvPr>
          <p:cNvSpPr/>
          <p:nvPr/>
        </p:nvSpPr>
        <p:spPr>
          <a:xfrm>
            <a:off x="640080" y="376314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FUTURE ENHANCEMENTS</a:t>
            </a:r>
            <a:endParaRPr lang="en-US" sz="1300" dirty="0">
              <a:latin typeface="Arial" panose="020B0604020202020204" pitchFamily="34" charset="0"/>
            </a:endParaRP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8491715F-8C41-4E5A-8ECD-80FB78B46099}"/>
              </a:ext>
            </a:extLst>
          </p:cNvPr>
          <p:cNvSpPr/>
          <p:nvPr/>
        </p:nvSpPr>
        <p:spPr>
          <a:xfrm>
            <a:off x="640080" y="696354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Where SPARK's Architecture Can Grow</a:t>
            </a:r>
            <a:endParaRPr lang="en-US" sz="36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640080" y="1704020"/>
            <a:ext cx="128016" cy="128016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490472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Nepal's population aged 65+ is projected to double by 2035, yet no affordable domestic fall-detection solution exists today.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2545268"/>
            <a:ext cx="128016" cy="128016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33172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SPARK combines a two-layer gated edge AI pipeline — a threshold pre-filter gating a quantized TFLite Micro 1D CNN — for fully on-device, cloud-independent fall detection under 200 ms.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" y="3386516"/>
            <a:ext cx="128016" cy="128016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172968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 SHAP-based explainability pipeline, adaptive sensitivity profiles, and auto-generated clinical PDF reports make every alert auditable rather than a black-box verdict.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40080" y="4227764"/>
            <a:ext cx="128016" cy="128016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4014216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No prior published system combines on-device gated inference, per-event explainability, adaptive sensitivity, and Nepal-context validation in a single open-hardware design.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0080" y="5069012"/>
            <a:ext cx="128016" cy="128016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855464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SPARK contributes a Nepal-context wearable IMU dataset and an open-source reference design for low-cost elderly fall monitoring across South Asian care settings.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July 13, 2026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809848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Conclusion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00297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168AE4FA-BAF4-4803-A38F-470581636A30}" type="slidenum"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28</a:t>
            </a:fld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CAB3F7AA-3969-4AEE-B8BF-47B18FE70B6F}"/>
              </a:ext>
            </a:extLst>
          </p:cNvPr>
          <p:cNvSpPr/>
          <p:nvPr/>
        </p:nvSpPr>
        <p:spPr>
          <a:xfrm>
            <a:off x="640080" y="37631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CONCLUSION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73BA3E53-86E5-456B-B8FE-A0607DA4EC4C}"/>
              </a:ext>
            </a:extLst>
          </p:cNvPr>
          <p:cNvSpPr/>
          <p:nvPr/>
        </p:nvSpPr>
        <p:spPr>
          <a:xfrm>
            <a:off x="640080" y="69635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Closing the Gap in Elderly Fall Care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REFERENCES</a:t>
            </a:r>
            <a:endParaRPr lang="en-US" sz="1300" dirty="0">
              <a:latin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Bibliography</a:t>
            </a:r>
            <a:endParaRPr lang="en-US" sz="3600" dirty="0">
              <a:latin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[1]</a:t>
            </a:r>
            <a:endParaRPr lang="en-US" sz="1150" dirty="0">
              <a:latin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43000" y="1508760"/>
            <a:ext cx="104086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World Health Organization, WHO Global Report on Falls Prevention in Older Age. Geneva, Switzerland: World Health Organization, 2007.</a:t>
            </a:r>
            <a:endParaRPr lang="en-US" sz="1100" dirty="0">
              <a:latin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2258568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[2]</a:t>
            </a:r>
            <a:endParaRPr lang="en-US" sz="1150" dirty="0">
              <a:latin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3000" y="2258568"/>
            <a:ext cx="104086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Central Bureau of Statistics, Nepal, National Population and Housing Census 2021: Population Projection Report. Kathmandu, Nepal: National Statistics Office, Government of Nepal, 2021.</a:t>
            </a:r>
            <a:endParaRPr lang="en-US" sz="1100" dirty="0">
              <a:latin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3008376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[3]</a:t>
            </a:r>
            <a:endParaRPr lang="en-US" sz="1150" dirty="0">
              <a:latin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43000" y="3008376"/>
            <a:ext cx="104086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M. Kangas, A. Konttila, P. Lindgren, I. Winblad, and T. Jämsä, “Comparison of low-complexity fall detection algorithms for body attached accelerometers,” Gait &amp; Posture, vol. 28, no. 2, pp. 285–291, 2008.</a:t>
            </a:r>
            <a:endParaRPr lang="en-US" sz="1100" dirty="0">
              <a:latin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3758184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[4]</a:t>
            </a:r>
            <a:endParaRPr lang="en-US" sz="1150" dirty="0">
              <a:latin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43000" y="3758184"/>
            <a:ext cx="104086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A. K. Bourke, J. V. O’Brien, and G. M. Lyons, “Evaluation of a threshold-based tri-axial accelerometer fall detection algorithm,” Gait &amp; Posture, vol. 26, no. 2, pp. 194–199, 2008.</a:t>
            </a:r>
            <a:endParaRPr lang="en-US" sz="1100" dirty="0">
              <a:latin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4507992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[5]</a:t>
            </a:r>
            <a:endParaRPr lang="en-US" sz="1150" dirty="0">
              <a:latin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43000" y="4507992"/>
            <a:ext cx="104086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A. Sucerquia, J. D. López, and J. F. Vargas-Bonilla, “SisFall: A fall and movement dataset,” Sensors, vol. 17, no. 1, p. 198, 2017.</a:t>
            </a:r>
            <a:endParaRPr lang="en-US" sz="1100" dirty="0">
              <a:latin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0080" y="525780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[6]</a:t>
            </a:r>
            <a:endParaRPr lang="en-US" sz="1150" dirty="0">
              <a:latin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43000" y="5257800"/>
            <a:ext cx="104086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O. Baños et al., “mHealthDroid: a novel framework for agile development of mobile health applications,” in Proc. 6th Int. Work-Conf. Ambient Assisted Living and Daily Activities (IWAAL), 2014, pp. 91–98.</a:t>
            </a:r>
            <a:endParaRPr lang="en-US" sz="1100" dirty="0">
              <a:latin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July 13, 2026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809848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References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00297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AFB4525B-126A-4833-958B-A1A5EDA8194D}" type="slidenum"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29</a:t>
            </a:fld>
            <a:endParaRPr lang="en-US" sz="95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REFERENCES</a:t>
            </a:r>
            <a:endParaRPr lang="en-US" sz="1300" dirty="0">
              <a:latin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Bibliography (Contd.)</a:t>
            </a:r>
            <a:endParaRPr lang="en-US" sz="3600" dirty="0">
              <a:latin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[7]</a:t>
            </a:r>
            <a:endParaRPr lang="en-US" sz="1150" dirty="0">
              <a:latin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43000" y="1508760"/>
            <a:ext cx="104086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Y.-H. Nho, J. G. Lim, and D.-S. Kwon, “Deep convolutional neural network for fall detection using inertial sensor data from wearable devices,” IEEE Sensors J., vol. 21, no. 22, pp. 26305–26315, 2021.</a:t>
            </a:r>
            <a:endParaRPr lang="en-US" sz="1100" dirty="0">
              <a:latin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2258568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[8]</a:t>
            </a:r>
            <a:endParaRPr lang="en-US" sz="1150" dirty="0">
              <a:latin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3000" y="2258568"/>
            <a:ext cx="104086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Y. Wang, M. Chen, X. Wang, R. H. M. Chan, and W. J. Li, “LSTM-based fall detection system using wearable sensors,” IEEE Sensors J., vol. 20, no. 11, pp. 6107–6116, 2020.</a:t>
            </a:r>
            <a:endParaRPr lang="en-US" sz="1100" dirty="0">
              <a:latin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3008376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[9]</a:t>
            </a:r>
            <a:endParaRPr lang="en-US" sz="1150" dirty="0">
              <a:latin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43000" y="3008376"/>
            <a:ext cx="104086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R. David et al., “TensorFlow Lite Micro: Embedded machine learning for TinyML systems,” in Proc. Machine Learning and Systems (MLSys), vol. 3, 2021, pp. 800–811.</a:t>
            </a:r>
            <a:endParaRPr lang="en-US" sz="1100" dirty="0">
              <a:latin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3758184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[10]</a:t>
            </a:r>
            <a:endParaRPr lang="en-US" sz="1150" dirty="0">
              <a:latin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43000" y="3758184"/>
            <a:ext cx="104086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A. Kumar, V. Sharma, and R. Singh, “Microcontroller-based fall detection for elderly monitoring using a threshold-gated classifier on Arduino Nano 33 BLE Sense,” Int. J. Embedded Syst. Appl., vol. 12, no. 1, pp. 1–12, 2022.</a:t>
            </a:r>
            <a:endParaRPr lang="en-US" sz="1100" dirty="0">
              <a:latin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4507992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[11]</a:t>
            </a:r>
            <a:endParaRPr lang="en-US" sz="1150" dirty="0">
              <a:latin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43000" y="4507992"/>
            <a:ext cx="104086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S. M. Lundberg and S.-I. Lee, “A unified approach to interpreting model predictions,” in Advances in Neural Information Processing Systems (NeurIPS), vol. 30, 2017, pp. 4765–4774.</a:t>
            </a:r>
            <a:endParaRPr lang="en-US" sz="1100" dirty="0">
              <a:latin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0080" y="525780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[12]</a:t>
            </a:r>
            <a:endParaRPr lang="en-US" sz="1150" dirty="0">
              <a:latin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43000" y="5257800"/>
            <a:ext cx="104086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G. Yao et al., “Interpretation of electrocardiogram heartbeat by CNN and GRU,” Computational and Mathematical Methods in Medicine, vol. 2021, 2021.</a:t>
            </a:r>
            <a:endParaRPr lang="en-US" sz="1100" dirty="0">
              <a:latin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July 13, 2026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809848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References</a:t>
            </a:r>
            <a:endParaRPr lang="en-US" sz="950" dirty="0">
              <a:latin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00297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A45410F6-FBA3-4D91-B1EC-773C306932BA}" type="slidenum">
              <a:rPr lang="en-US" sz="95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30</a:t>
            </a:fld>
            <a:endParaRPr lang="en-US" sz="95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284</TotalTime>
  <Words>3327</Words>
  <Application>Microsoft Office PowerPoint</Application>
  <PresentationFormat>Widescreen</PresentationFormat>
  <Paragraphs>481</Paragraphs>
  <Slides>30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SPARK: Explainable Edge AI for Kinetic Pattern Recognition and Distress Signaling</dc:title>
  <dc:subject>PptxGenJS Presentation</dc:subject>
  <dc:creator>Aaradhya Dev Tamrakar, Rupesh Kadel, Sankalpa Lamsal, Sonia Thapa</dc:creator>
  <cp:lastModifiedBy>Aaradhya</cp:lastModifiedBy>
  <cp:revision>76</cp:revision>
  <dcterms:created xsi:type="dcterms:W3CDTF">2026-07-08T06:55:31Z</dcterms:created>
  <dcterms:modified xsi:type="dcterms:W3CDTF">2026-07-09T03:32:45Z</dcterms:modified>
</cp:coreProperties>
</file>